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8285f1d-be3d-a84f-afed-f8c45c056ebf}">
          <p14:sldIdLst>
            <p14:sldId id="256"/>
            <p14:sldId id="257"/>
            <p14:sldId id="258"/>
            <p14:sldId id="259"/>
          </p14:sldIdLst>
        </p14:section>
        <p14:section name="The satellites" id="{36f4b2e8-185e-836f-ec15-7966a2d9b702}">
          <p14:sldIdLst>
            <p14:sldId id="260"/>
            <p14:sldId id="261"/>
            <p14:sldId id="262"/>
          </p14:sldIdLst>
        </p14:section>
        <p14:section name="Study and method" id="{605ca566-8139-aeb0-cd9a-e187ddfe1808}">
          <p14:sldIdLst>
            <p14:sldId id="263"/>
            <p14:sldId id="264"/>
            <p14:sldId id="265"/>
          </p14:sldIdLst>
        </p14:section>
        <p14:section name="Evidence" id="{43a5f231-0145-a545-a9d9-e158ade9b0b2}">
          <p14:sldIdLst>
            <p14:sldId id="266"/>
            <p14:sldId id="267"/>
            <p14:sldId id="268"/>
          </p14:sldIdLst>
        </p14:section>
        <p14:section name="Plan" id="{a4f3036b-b7c9-19e6-eefd-33bf7911b12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8314175" TargetMode="External"/><Relationship Id="rId9" Type="http://schemas.openxmlformats.org/officeDocument/2006/relationships/hyperlink" Target="https://docs.google.com/spreadsheets/d/e/2PACX-1vTcSGhi9RESl7CMCl1TQnrKe07Gx5Q696YiSB9jneIHqIP9lifpqSErgI3D5k9KtQXSdW5JpycIIr5e/pubhtml" TargetMode="External"/><Relationship Id="rId10" Type="http://schemas.openxmlformats.org/officeDocument/2006/relationships/hyperlink" Target="https://irrigation.gov.lk/web/index.php?option=com_content&amp;view=article&amp;id=84&amp;Itemid=201&amp;lang=en" TargetMode="External"/><Relationship Id="rId11" Type="http://schemas.openxmlformats.org/officeDocument/2006/relationships/hyperlink" Target="https://services3.arcgis.com/J7ZFXmR8rSmQ3FGf/ArcGIS/rest/services/Scheme_Data_2/FeatureServer/10" TargetMode="External"/><Relationship Id="rId12" Type="http://schemas.openxmlformats.org/officeDocument/2006/relationships/hyperlink" Target="https://www.irrigation.gov.lk/web/images/Scheme-Maps/Anuradhapura/HuruluWewa/Area_Capacity_Kanhindawewa_01_07_2026.pdf" TargetMode="External"/><Relationship Id="rId13" Type="http://schemas.openxmlformats.org/officeDocument/2006/relationships/hyperlink" Target="https://mahaweli.gov.lk/wms.html" TargetMode="External"/><Relationship Id="rId14" Type="http://schemas.openxmlformats.org/officeDocument/2006/relationships/hyperlink" Target="https://www.chc.ucsb.edu/data/chirps" TargetMode="External"/><Relationship Id="rId15" Type="http://schemas.openxmlformats.org/officeDocument/2006/relationships/hyperlink" Target="https://cds.climate.copernicus.eu/datasets/reanalysis-era5-single-levels" TargetMode="External"/><Relationship Id="rId16" Type="http://schemas.openxmlformats.org/officeDocument/2006/relationships/hyperlink" Target="https://swot.mehara.work/" TargetMode="External"/><Relationship Id="rId17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in our study area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40–64 cm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steady gap between SWOT and the gauges at all 5 reservoirs; one fixed correction each</a:t>
            </a:r>
            <a:endParaRPr lang="en-US" sz="1250" dirty="0"/>
          </a:p>
        </p:txBody>
      </p:sp>
      <p:sp>
        <p:nvSpPr>
          <p:cNvPr id="22" name="status PASS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village tanks, and can a learned model tell which readings to trust better than SWOT's own flags?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gauges, on reservoirs the model never saw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AI water area plus SWOT height give storage close to official and measured values?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deep-learning model forecast each tank's storage 2–4 weeks ahead better than a "no change" forecast?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 at 1, 2 and 4 weeks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model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of us owns a research question from start to finish, and trains one model for it.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Sentinel-1 and Sentinel-2 water map (U-Net)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water maps for all tanks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gauges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 from Hydrocron, checked against gauges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Gauge data: daily records and history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SWOT trust model (gradient boosting)</a:t>
            </a:r>
            <a:endParaRPr lang="en-US" sz="1400" dirty="0"/>
          </a:p>
        </p:txBody>
      </p:sp>
      <p:sp>
        <p:nvSpPr>
          <p:cNvPr id="22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accuracy report and trust model</a:t>
            </a:r>
            <a:endParaRPr lang="en-US" sz="1250" dirty="0"/>
          </a:p>
        </p:txBody>
      </p:sp>
      <p:sp>
        <p:nvSpPr>
          <p:cNvPr id="24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5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and forecast</a:t>
            </a:r>
            <a:endParaRPr lang="en-US" sz="1900" dirty="0"/>
          </a:p>
        </p:txBody>
      </p:sp>
      <p:sp>
        <p:nvSpPr>
          <p:cNvPr id="29" name="RQ3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31" name="RQ4"/>
          <p:cNvSpPr/>
          <p:nvPr/>
        </p:nvSpPr>
        <p:spPr>
          <a:xfrm>
            <a:off x="9121445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121445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Height–area–volume curve for each tank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Storage every 5–12 days, checked against official figures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2–4 week storage forecast (LSTM)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storage, forecast and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gauges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 on reservoirs and village tanks, and can a learned model tell which readings to trust better than SWOT's own flags?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average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Labels for the model: each reading's error at the 117 department reservoirs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trust model against SWOT's own flags, on reservoirs it never saw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a height error turns into a volume error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model: gradient boosting (XGBoost or LightGBM) on SWOT's quality fields, track distance, lake size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Gauge zero in metres above sea level: full supply level minus full supply depth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Daily logger for the department's sheet; storage history turned back into gauge heights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the fixed gap for each reservoir, and a trust model that scores every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Storage and forecast</a:t>
            </a:r>
            <a:endParaRPr lang="en-US" sz="3400" dirty="0"/>
          </a:p>
        </p:txBody>
      </p:sp>
      <p:sp>
        <p:nvSpPr>
          <p:cNvPr id="3" name="RQ3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5" name="RQ4"/>
          <p:cNvSpPr/>
          <p:nvPr/>
        </p:nvSpPr>
        <p:spPr>
          <a:xfrm>
            <a:off x="1298448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39696" y="1161288"/>
            <a:ext cx="9503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Does AI water area plus SWOT height give storage close to official values, and can a deep-learning model forecast it 2–4 weeks ahead?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tank's area–height curve A(h) from its dots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change against the department's daily storage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the method on Kanhindawewa's drone table, and against Imbulana's formula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at 1, 2 and 4 weeks, against "no change" and the seasonal average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engine: dots, curve, thin layers and safe limits, after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model: an LSTM with a gradient-boosting baseline, trained on 117 reservoirs' daily storage (2020–2026), rain and evaporation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storage, safe limits and the forecast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storage for every tank with safe limits, and a 2–4 week forecast, on a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Brain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and an AI water map that works under cloud and water plants</a:t>
            </a:r>
            <a:endParaRPr lang="en-US" sz="1600" dirty="0"/>
          </a:p>
        </p:txBody>
      </p:sp>
      <p:sp>
        <p:nvSpPr>
          <p:cNvPr id="6" name="icon FaSatellite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SWOT trust model that scores every reading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Curves and storage every 5–12 days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2–4 week storage forecast,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cascade and name checks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and the three models: water map, trust model, forecast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4928616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531266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2026-10-28T15:38:08Z</dcterms:created>
  <dcterms:modified xsi:type="dcterms:W3CDTF">2026-10-28T15:38:08Z</dcterms:modified>
</cp:coreProperties>
</file>