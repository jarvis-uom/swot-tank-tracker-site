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711150" y="863532"/>
            <a:ext cx="50800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711150" y="1635652"/>
            <a:ext cx="10668050" cy="4409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711150" y="863532"/>
            <a:ext cx="50800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711150" y="1635652"/>
            <a:ext cx="10668050" cy="4409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7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9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image of the tanks around Mahakanadarawa, darker on the left">    </p:cNvPr>
          <p:cNvPicPr>
            <a:picLocks noChangeAspect="1"/>
          </p:cNvPicPr>
          <p:nvPr/>
        </p:nvPicPr>
        <p:blipFill>
          <a:blip r:embed="rId1"/>
          <a:srcRect l="0" r="0" t="60" b="6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2230">
                  <a:alpha val="90000"/>
                </a:srgbClr>
              </a:gs>
              <a:gs pos="45000">
                <a:srgbClr val="0B2230">
                  <a:alpha val="78000"/>
                </a:srgbClr>
              </a:gs>
              <a:gs pos="72000">
                <a:srgbClr val="0B2230">
                  <a:alpha val="25000"/>
                </a:srgbClr>
              </a:gs>
              <a:gs pos="100000">
                <a:srgbClr val="0B2230">
                  <a:alpha val="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0" y="4191000"/>
            <a:ext cx="12192000" cy="2667000"/>
          </a:xfrm>
          <a:prstGeom prst="rect">
            <a:avLst/>
          </a:prstGeom>
          <a:gradFill rotWithShape="1">
            <a:gsLst>
              <a:gs pos="0">
                <a:srgbClr val="0B2230">
                  <a:alpha val="95000"/>
                </a:srgbClr>
              </a:gs>
              <a:gs pos="50000">
                <a:srgbClr val="0B2230">
                  <a:alpha val="75000"/>
                </a:srgbClr>
              </a:gs>
              <a:gs pos="100000">
                <a:srgbClr val="0B2230">
                  <a:alpha val="0"/>
                </a:srgbClr>
              </a:gs>
            </a:gsLst>
            <a:lin ang="16200000" scaled="0"/>
          </a:gradFill>
          <a:ln/>
        </p:spPr>
        <p:txBody>
          <a:bodyPr/>
          <a:p/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711150" y="863534"/>
            <a:ext cx="7456170" cy="2870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4000" b="1" i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SWOT Tank Water Tracker:</a:t>
            </a:r>
            <a:r>
              <a:rPr lang="en-US" sz="4000" b="0" i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Multi-Sensor Deep Learning and Satellite Altimetry for Water Storage Estimation and Forecasting in Sri Lankan Tanks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11150" y="5387495"/>
            <a:ext cx="229997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6: JARVIS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1150" y="6168016"/>
            <a:ext cx="156707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C9D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2278228" y="6083350"/>
            <a:ext cx="325908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Dr.(Ms) Ganegoda G.U. (IT)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537315" y="6083350"/>
            <a:ext cx="51106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Prof.(Mrs) Sandanayake T.C. (IDS)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632250" y="6536696"/>
            <a:ext cx="7848600" cy="2070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C9D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Tanks around Mahakanadarawa, Sentinel-2, 28 February 2026. Contains modified Copernicus Sentinel data 2026.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1150" y="228534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711150" y="330068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422301" y="228534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422301" y="330068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33451" y="228534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2133451" y="330068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44602" y="228534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2844602" y="330068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555752" y="228534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3555752" y="330068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393902" y="330134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image of the study region with 432 tanks of 6.25 ha or more outlined in blue">    </p:cNvPr>
          <p:cNvPicPr>
            <a:picLocks noChangeAspect="1"/>
          </p:cNvPicPr>
          <p:nvPr/>
        </p:nvPicPr>
        <p:blipFill>
          <a:blip r:embed="rId1"/>
          <a:srcRect l="918" r="918" t="0" b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6000" y="6304276"/>
            <a:ext cx="6096000" cy="553723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203200" tIns="88900" rIns="32512" bIns="762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432 tanks of 6.25 ha or more on this image (blue). Sentinel-2, 28 February 2026. Contains modified Copernicus Sentinel data 2026; tank outlines © OpenStreetMap contributors.</a:t>
            </a:r>
            <a:endParaRPr lang="en-US" sz="11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711150" y="863533"/>
            <a:ext cx="538485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and Research Gap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11150" y="1534004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6" name="Image 1" descr="Databas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7301" y="1610154"/>
            <a:ext cx="254000" cy="254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69917" y="1572104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large reservoirs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have storage figures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(Daily FT 2023; Irrigation Dept. 2026)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711150" y="2333873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9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7301" y="2410023"/>
            <a:ext cx="254000" cy="254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69917" y="2371973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Village tanks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have no gauges or records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711150" y="3133741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12" name="Image 3" descr="Glob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87301" y="3209892"/>
            <a:ext cx="254000" cy="2540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69917" y="3171841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Satellite maps give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area, not volume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(IFAD 2026)</a:t>
            </a:r>
            <a:endParaRPr lang="en-US" sz="2000" dirty="0"/>
          </a:p>
        </p:txBody>
      </p:sp>
      <p:sp>
        <p:nvSpPr>
          <p:cNvPr id="14" name="Text 8"/>
          <p:cNvSpPr/>
          <p:nvPr/>
        </p:nvSpPr>
        <p:spPr>
          <a:xfrm>
            <a:off x="711150" y="4035227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 GAP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711150" y="4350080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16" name="Image 4" descr="Clo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87301" y="4426231"/>
            <a:ext cx="254000" cy="2540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69917" y="4388180"/>
            <a:ext cx="4656870" cy="68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ICESat-2: heights every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 days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b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(Madumalsha et al. 2025)</a:t>
            </a:r>
            <a:endParaRPr lang="en-US" sz="2000" dirty="0"/>
          </a:p>
        </p:txBody>
      </p:sp>
      <p:sp>
        <p:nvSpPr>
          <p:cNvPr id="18" name="Shape 11"/>
          <p:cNvSpPr/>
          <p:nvPr/>
        </p:nvSpPr>
        <p:spPr>
          <a:xfrm>
            <a:off x="711150" y="5181998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19" name="Image 5" descr="Search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87301" y="5258148"/>
            <a:ext cx="254000" cy="2540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69917" y="5220098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SWOT storage: tested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abroad only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b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(Das &amp; Hossain 2025; Ma et al. 2026)</a:t>
            </a:r>
            <a:endParaRPr lang="en-US" sz="2000" dirty="0"/>
          </a:p>
        </p:txBody>
      </p:sp>
      <p:sp>
        <p:nvSpPr>
          <p:cNvPr id="21" name="Shape 13"/>
          <p:cNvSpPr/>
          <p:nvPr/>
        </p:nvSpPr>
        <p:spPr>
          <a:xfrm>
            <a:off x="711150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sp>
        <p:nvSpPr>
          <p:cNvPr id="22" name="Text 14"/>
          <p:cNvSpPr/>
          <p:nvPr/>
        </p:nvSpPr>
        <p:spPr>
          <a:xfrm>
            <a:off x="711150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1422301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4" name="Text 16"/>
          <p:cNvSpPr/>
          <p:nvPr/>
        </p:nvSpPr>
        <p:spPr>
          <a:xfrm>
            <a:off x="142230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2133451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6" name="Text 18"/>
          <p:cNvSpPr/>
          <p:nvPr/>
        </p:nvSpPr>
        <p:spPr>
          <a:xfrm>
            <a:off x="213345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2844602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8" name="Text 20"/>
          <p:cNvSpPr/>
          <p:nvPr/>
        </p:nvSpPr>
        <p:spPr>
          <a:xfrm>
            <a:off x="284460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555752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0" name="Text 22"/>
          <p:cNvSpPr/>
          <p:nvPr/>
        </p:nvSpPr>
        <p:spPr>
          <a:xfrm>
            <a:off x="355575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4393902" y="330133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15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of the SWOT satellite above the Earth">    </p:cNvPr>
          <p:cNvPicPr>
            <a:picLocks noChangeAspect="1"/>
          </p:cNvPicPr>
          <p:nvPr/>
        </p:nvPicPr>
        <p:blipFill>
          <a:blip r:embed="rId1"/>
          <a:srcRect l="33917" r="43167" t="0" b="0"/>
          <a:stretch/>
        </p:blipFill>
        <p:spPr>
          <a:xfrm>
            <a:off x="0" y="0"/>
            <a:ext cx="2794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6485930"/>
            <a:ext cx="2794000" cy="372070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177800" tIns="88900" rIns="104648" bIns="762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Illustration: NASA/JPL-Caltech.</a:t>
            </a:r>
            <a:endParaRPr lang="en-US" sz="11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3301917" y="863533"/>
            <a:ext cx="842430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Aim and Research Questions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3301917" y="1584854"/>
            <a:ext cx="842430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Aim: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estimate and forecast storage, including ungauged village tanks.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3301917" y="2169004"/>
            <a:ext cx="3987850" cy="1403697"/>
          </a:xfrm>
          <a:prstGeom prst="roundRect">
            <a:avLst>
              <a:gd name="adj" fmla="val 5429"/>
            </a:avLst>
          </a:prstGeom>
          <a:solidFill>
            <a:srgbClr val="F2F5F8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3301917" y="2169004"/>
            <a:ext cx="3987850" cy="1403697"/>
          </a:xfrm>
          <a:custGeom>
            <a:avLst/>
            <a:gdLst/>
            <a:ahLst/>
            <a:cxnLst/>
            <a:rect l="l" t="t" r="r" b="b"/>
            <a:pathLst>
              <a:path w="3987850" h="1403697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911650" y="0"/>
                </a:lnTo>
                <a:arcTo hR="76200" wR="76200" stAng="16200000" swAng="5400000"/>
                <a:lnTo>
                  <a:pt x="398785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2A78D6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505067" y="2419779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9" name="Image 1" descr="Glob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81218" y="2495930"/>
            <a:ext cx="254000" cy="254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063835" y="2419779"/>
            <a:ext cx="31134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RQ1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063835" y="2683867"/>
            <a:ext cx="3113465" cy="685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maps under cloud and plants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7492917" y="2169004"/>
            <a:ext cx="3987932" cy="1403697"/>
          </a:xfrm>
          <a:prstGeom prst="roundRect">
            <a:avLst>
              <a:gd name="adj" fmla="val 5429"/>
            </a:avLst>
          </a:prstGeom>
          <a:solidFill>
            <a:srgbClr val="F2F5F8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492917" y="2169004"/>
            <a:ext cx="3987932" cy="1403697"/>
          </a:xfrm>
          <a:custGeom>
            <a:avLst/>
            <a:gdLst/>
            <a:ahLst/>
            <a:cxnLst/>
            <a:rect l="l" t="t" r="r" b="b"/>
            <a:pathLst>
              <a:path w="3987932" h="1403697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911732" y="0"/>
                </a:lnTo>
                <a:arcTo hR="76200" wR="76200" stAng="16200000" swAng="5400000"/>
                <a:lnTo>
                  <a:pt x="3987932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1BAF7A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7696067" y="2419779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/>
        </p:spPr>
        <p:txBody>
          <a:bodyPr/>
          <a:p/>
        </p:txBody>
      </p:sp>
      <p:pic>
        <p:nvPicPr>
          <p:cNvPr id="15" name="Image 2" descr="Trus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72218" y="2495930"/>
            <a:ext cx="254000" cy="2540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54834" y="2419779"/>
            <a:ext cx="3113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RQ2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254834" y="2683867"/>
            <a:ext cx="3113550" cy="685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SWOT accuracy and “suspect” readings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3301917" y="3775852"/>
            <a:ext cx="3987850" cy="1073547"/>
          </a:xfrm>
          <a:prstGeom prst="roundRect">
            <a:avLst>
              <a:gd name="adj" fmla="val 7098"/>
            </a:avLst>
          </a:prstGeom>
          <a:solidFill>
            <a:srgbClr val="F2F5F8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3301917" y="3775852"/>
            <a:ext cx="3987850" cy="1073547"/>
          </a:xfrm>
          <a:custGeom>
            <a:avLst/>
            <a:gdLst/>
            <a:ahLst/>
            <a:cxnLst/>
            <a:rect l="l" t="t" r="r" b="b"/>
            <a:pathLst>
              <a:path w="3987850" h="1073547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911650" y="0"/>
                </a:lnTo>
                <a:arcTo hR="76200" wR="76200" stAng="16200000" swAng="5400000"/>
                <a:lnTo>
                  <a:pt x="398785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1BAF7A"/>
          </a:solidFill>
          <a:ln/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3505067" y="4026627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/>
        </p:spPr>
        <p:txBody>
          <a:bodyPr/>
          <a:p/>
        </p:txBody>
      </p:sp>
      <p:pic>
        <p:nvPicPr>
          <p:cNvPr id="21" name="Image 3" descr="Databas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581218" y="4102777"/>
            <a:ext cx="254000" cy="2540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063835" y="4026627"/>
            <a:ext cx="31134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RQ3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063835" y="4290715"/>
            <a:ext cx="3113465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 full for unseen tanks</a:t>
            </a:r>
            <a:endParaRPr lang="en-US" sz="2000" dirty="0"/>
          </a:p>
        </p:txBody>
      </p:sp>
      <p:sp>
        <p:nvSpPr>
          <p:cNvPr id="24" name="Shape 18"/>
          <p:cNvSpPr/>
          <p:nvPr/>
        </p:nvSpPr>
        <p:spPr>
          <a:xfrm>
            <a:off x="7492917" y="3775852"/>
            <a:ext cx="3987932" cy="1073547"/>
          </a:xfrm>
          <a:prstGeom prst="roundRect">
            <a:avLst>
              <a:gd name="adj" fmla="val 7098"/>
            </a:avLst>
          </a:prstGeom>
          <a:solidFill>
            <a:srgbClr val="F2F5F8"/>
          </a:solidFill>
          <a:ln/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7492917" y="3775852"/>
            <a:ext cx="3987932" cy="1073547"/>
          </a:xfrm>
          <a:custGeom>
            <a:avLst/>
            <a:gdLst/>
            <a:ahLst/>
            <a:cxnLst/>
            <a:rect l="l" t="t" r="r" b="b"/>
            <a:pathLst>
              <a:path w="3987932" h="1073547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911732" y="0"/>
                </a:lnTo>
                <a:arcTo hR="76200" wR="76200" stAng="16200000" swAng="5400000"/>
                <a:lnTo>
                  <a:pt x="3987932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EB6834"/>
          </a:solidFill>
          <a:ln/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7696067" y="4026627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27" name="Image 4" descr="Char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772218" y="4102777"/>
            <a:ext cx="254000" cy="2540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254834" y="4026627"/>
            <a:ext cx="3113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RQ4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8254834" y="4290715"/>
            <a:ext cx="3226015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to 4-week storage forecast</a:t>
            </a:r>
            <a:endParaRPr lang="en-US" sz="2000" dirty="0"/>
          </a:p>
        </p:txBody>
      </p:sp>
      <p:sp>
        <p:nvSpPr>
          <p:cNvPr id="30" name="Shape 23"/>
          <p:cNvSpPr/>
          <p:nvPr/>
        </p:nvSpPr>
        <p:spPr>
          <a:xfrm>
            <a:off x="3302000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sp>
        <p:nvSpPr>
          <p:cNvPr id="31" name="Text 24"/>
          <p:cNvSpPr/>
          <p:nvPr/>
        </p:nvSpPr>
        <p:spPr>
          <a:xfrm>
            <a:off x="3302000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4013150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3" name="Text 26"/>
          <p:cNvSpPr/>
          <p:nvPr/>
        </p:nvSpPr>
        <p:spPr>
          <a:xfrm>
            <a:off x="4013150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4724301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472430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435451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543545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6146602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9" name="Text 32"/>
          <p:cNvSpPr/>
          <p:nvPr/>
        </p:nvSpPr>
        <p:spPr>
          <a:xfrm>
            <a:off x="614660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40" name="Text 33"/>
          <p:cNvSpPr/>
          <p:nvPr/>
        </p:nvSpPr>
        <p:spPr>
          <a:xfrm>
            <a:off x="6984752" y="330133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15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p of the study area east of Anuradhapura: five major reservoirs in blue and eight numbered village tanks in orange, with a 10 km scale bar">    </p:cNvPr>
          <p:cNvPicPr>
            <a:picLocks noChangeAspect="1"/>
          </p:cNvPicPr>
          <p:nvPr/>
        </p:nvPicPr>
        <p:blipFill>
          <a:blip r:embed="rId1"/>
          <a:srcRect l="0" r="0" t="291" b="291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36000" y="6329660"/>
            <a:ext cx="3556000" cy="528340"/>
          </a:xfrm>
          <a:prstGeom prst="rect">
            <a:avLst/>
          </a:prstGeom>
          <a:solidFill>
            <a:srgbClr val="FFFFFF">
              <a:alpha val="94000"/>
            </a:srgbClr>
          </a:solidFill>
          <a:ln/>
        </p:spPr>
        <p:txBody>
          <a:bodyPr wrap="square" lIns="152400" tIns="76200" rIns="81026" bIns="635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own figure (Group 6, JARVIS). The study area map uses © OpenStreetMap contributors.</a:t>
            </a:r>
            <a:endParaRPr lang="en-US" sz="11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711150" y="863533"/>
            <a:ext cx="523240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Study Area and Data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711150" y="1584854"/>
            <a:ext cx="2459245" cy="838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711150" y="2448387"/>
            <a:ext cx="2459245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major reservoirs, daily gauges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3403534" y="1584854"/>
            <a:ext cx="2459245" cy="838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3403534" y="2448387"/>
            <a:ext cx="2459245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village tanks near Mahakanadarawa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11150" y="3337387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DATA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11150" y="3652242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11" name="Image 1" descr="Activity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7301" y="3728393"/>
            <a:ext cx="254000" cy="254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69917" y="3690358"/>
            <a:ext cx="465687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SWOT heights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711150" y="4160158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14" name="Image 2" descr="Glob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7301" y="4236309"/>
            <a:ext cx="254000" cy="254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9917" y="4198276"/>
            <a:ext cx="465687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Sentinel-1 and -2 images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11150" y="4668076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17" name="Image 3" descr="Databas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87301" y="4744227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9917" y="4706193"/>
            <a:ext cx="4656870" cy="68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storage,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117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reservoirs </a:t>
            </a:r>
            <a:b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(Irrigation Dept. 2026)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711150" y="5499994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20" name="Image 4" descr="Char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87301" y="5576145"/>
            <a:ext cx="254000" cy="2540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69917" y="5538110"/>
            <a:ext cx="4656870" cy="68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areas,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70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reservoirs </a:t>
            </a:r>
            <a:b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(Global Water Watch 2026)</a:t>
            </a:r>
            <a:endParaRPr lang="en-US" sz="2000" dirty="0"/>
          </a:p>
        </p:txBody>
      </p:sp>
      <p:sp>
        <p:nvSpPr>
          <p:cNvPr id="22" name="Shape 15"/>
          <p:cNvSpPr/>
          <p:nvPr/>
        </p:nvSpPr>
        <p:spPr>
          <a:xfrm>
            <a:off x="711150" y="6331910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pic>
        <p:nvPicPr>
          <p:cNvPr id="23" name="Image 5" descr="Cloud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87301" y="6408061"/>
            <a:ext cx="254000" cy="2540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269917" y="6370026"/>
            <a:ext cx="465687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Rain and evaporation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711150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0B2230"/>
          </a:solidFill>
          <a:ln/>
        </p:spPr>
        <p:txBody>
          <a:bodyPr/>
          <a:p/>
        </p:txBody>
      </p:sp>
      <p:sp>
        <p:nvSpPr>
          <p:cNvPr id="26" name="Text 18"/>
          <p:cNvSpPr/>
          <p:nvPr/>
        </p:nvSpPr>
        <p:spPr>
          <a:xfrm>
            <a:off x="711150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1422301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8" name="Text 20"/>
          <p:cNvSpPr/>
          <p:nvPr/>
        </p:nvSpPr>
        <p:spPr>
          <a:xfrm>
            <a:off x="142230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2133451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0" name="Text 22"/>
          <p:cNvSpPr/>
          <p:nvPr/>
        </p:nvSpPr>
        <p:spPr>
          <a:xfrm>
            <a:off x="213345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2844602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2" name="Text 24"/>
          <p:cNvSpPr/>
          <p:nvPr/>
        </p:nvSpPr>
        <p:spPr>
          <a:xfrm>
            <a:off x="284460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555752" y="228533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4" name="Text 26"/>
          <p:cNvSpPr/>
          <p:nvPr/>
        </p:nvSpPr>
        <p:spPr>
          <a:xfrm>
            <a:off x="355575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4393902" y="330133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15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711150" y="863532"/>
            <a:ext cx="1109279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Works: One Chain, Three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11150" y="2165449"/>
            <a:ext cx="3115799" cy="2842121"/>
          </a:xfrm>
          <a:prstGeom prst="roundRect">
            <a:avLst>
              <a:gd name="adj" fmla="val 3575"/>
            </a:avLst>
          </a:prstGeom>
          <a:solidFill>
            <a:srgbClr val="132F40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11150" y="2165449"/>
            <a:ext cx="3115799" cy="2842121"/>
          </a:xfrm>
          <a:custGeom>
            <a:avLst/>
            <a:gdLst/>
            <a:ahLst/>
            <a:cxnLst/>
            <a:rect l="l" t="t" r="r" b="b"/>
            <a:pathLst>
              <a:path w="3115799" h="284212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014199" y="0"/>
                </a:lnTo>
                <a:arcTo hR="101600" wR="101600" stAng="16200000" swAng="5400000"/>
                <a:lnTo>
                  <a:pt x="3115799" y="101600"/>
                </a:lnTo>
                <a:arcTo hR="38100" wR="101600" stAng="0" swAng="-5400000"/>
                <a:lnTo>
                  <a:pt x="101600" y="63500"/>
                </a:lnTo>
                <a:arcTo hR="38100" wR="101600" stAng="16200000" swAng="-5400000"/>
                <a:close/>
              </a:path>
            </a:pathLst>
          </a:custGeom>
          <a:solidFill>
            <a:srgbClr val="2A78D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90534" y="2508331"/>
            <a:ext cx="85725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2836416" y="2660715"/>
            <a:ext cx="711150" cy="7111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7" name="Image 0" descr="Glob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988799" y="2813100"/>
            <a:ext cx="406383" cy="40638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0534" y="3676715"/>
            <a:ext cx="263374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water map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90534" y="4489481"/>
            <a:ext cx="26337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C9D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A</a:t>
            </a:r>
            <a:endParaRPr lang="en-US" sz="1400" dirty="0"/>
          </a:p>
        </p:txBody>
      </p:sp>
      <p:pic>
        <p:nvPicPr>
          <p:cNvPr id="10" name="Image 1" descr="arrow-right">    </p:cNvPr>
          <p:cNvPicPr>
            <a:picLocks noChangeAspect="1"/>
          </p:cNvPicPr>
          <p:nvPr/>
        </p:nvPicPr>
        <p:blipFill>
          <a:blip r:embed="rId2"/>
          <a:srcRect l="-10" r="-10" t="0" b="0"/>
          <a:stretch/>
        </p:blipFill>
        <p:spPr>
          <a:xfrm>
            <a:off x="3979333" y="3484891"/>
            <a:ext cx="406383" cy="2031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38100" y="2165449"/>
            <a:ext cx="3115799" cy="2842121"/>
          </a:xfrm>
          <a:prstGeom prst="roundRect">
            <a:avLst>
              <a:gd name="adj" fmla="val 3575"/>
            </a:avLst>
          </a:prstGeom>
          <a:solidFill>
            <a:srgbClr val="132F40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538100" y="2165449"/>
            <a:ext cx="3115799" cy="2842121"/>
          </a:xfrm>
          <a:custGeom>
            <a:avLst/>
            <a:gdLst/>
            <a:ahLst/>
            <a:cxnLst/>
            <a:rect l="l" t="t" r="r" b="b"/>
            <a:pathLst>
              <a:path w="3115799" h="284212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014199" y="0"/>
                </a:lnTo>
                <a:arcTo hR="101600" wR="101600" stAng="16200000" swAng="5400000"/>
                <a:lnTo>
                  <a:pt x="3115799" y="101600"/>
                </a:lnTo>
                <a:arcTo hR="38100" wR="101600" stAng="0" swAng="-5400000"/>
                <a:lnTo>
                  <a:pt x="101600" y="63500"/>
                </a:lnTo>
                <a:arcTo hR="38100" wR="101600" stAng="16200000" swAng="-5400000"/>
                <a:close/>
              </a:path>
            </a:pathLst>
          </a:custGeom>
          <a:solidFill>
            <a:srgbClr val="1BAF7A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4817483" y="2508331"/>
            <a:ext cx="781645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8000" dirty="0"/>
          </a:p>
        </p:txBody>
      </p:sp>
      <p:sp>
        <p:nvSpPr>
          <p:cNvPr id="14" name="Shape 10"/>
          <p:cNvSpPr/>
          <p:nvPr/>
        </p:nvSpPr>
        <p:spPr>
          <a:xfrm>
            <a:off x="6663365" y="2660715"/>
            <a:ext cx="711150" cy="71115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/>
        </p:spPr>
        <p:txBody>
          <a:bodyPr/>
          <a:p/>
        </p:txBody>
      </p:sp>
      <p:pic>
        <p:nvPicPr>
          <p:cNvPr id="15" name="Image 2" descr="Activity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15749" y="2813100"/>
            <a:ext cx="406383" cy="40638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17483" y="3676715"/>
            <a:ext cx="263374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SWOT heights and storage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817483" y="4489481"/>
            <a:ext cx="26337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C9D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B</a:t>
            </a:r>
            <a:endParaRPr lang="en-US" sz="1400" dirty="0"/>
          </a:p>
        </p:txBody>
      </p:sp>
      <p:pic>
        <p:nvPicPr>
          <p:cNvPr id="18" name="Image 3" descr="arrow-right">    </p:cNvPr>
          <p:cNvPicPr>
            <a:picLocks noChangeAspect="1"/>
          </p:cNvPicPr>
          <p:nvPr/>
        </p:nvPicPr>
        <p:blipFill>
          <a:blip r:embed="rId4"/>
          <a:srcRect l="-10" r="-10" t="0" b="0"/>
          <a:stretch/>
        </p:blipFill>
        <p:spPr>
          <a:xfrm>
            <a:off x="7806283" y="3484891"/>
            <a:ext cx="406383" cy="20315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365050" y="2165449"/>
            <a:ext cx="3115799" cy="2842121"/>
          </a:xfrm>
          <a:prstGeom prst="roundRect">
            <a:avLst>
              <a:gd name="adj" fmla="val 3575"/>
            </a:avLst>
          </a:prstGeom>
          <a:solidFill>
            <a:srgbClr val="132F40"/>
          </a:solidFill>
          <a:ln/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8365050" y="2165449"/>
            <a:ext cx="3115799" cy="2842121"/>
          </a:xfrm>
          <a:custGeom>
            <a:avLst/>
            <a:gdLst/>
            <a:ahLst/>
            <a:cxnLst/>
            <a:rect l="l" t="t" r="r" b="b"/>
            <a:pathLst>
              <a:path w="3115799" h="284212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014199" y="0"/>
                </a:lnTo>
                <a:arcTo hR="101600" wR="101600" stAng="16200000" swAng="5400000"/>
                <a:lnTo>
                  <a:pt x="3115799" y="101600"/>
                </a:lnTo>
                <a:arcTo hR="38100" wR="101600" stAng="0" swAng="-5400000"/>
                <a:lnTo>
                  <a:pt x="101600" y="63500"/>
                </a:lnTo>
                <a:arcTo hR="38100" wR="101600" stAng="16200000" swAng="-5400000"/>
                <a:close/>
              </a:path>
            </a:pathLst>
          </a:custGeom>
          <a:solidFill>
            <a:srgbClr val="EB6834"/>
          </a:solidFill>
          <a:ln/>
        </p:spPr>
        <p:txBody>
          <a:bodyPr/>
          <a:p/>
        </p:txBody>
      </p:sp>
      <p:sp>
        <p:nvSpPr>
          <p:cNvPr id="21" name="Text 15"/>
          <p:cNvSpPr/>
          <p:nvPr/>
        </p:nvSpPr>
        <p:spPr>
          <a:xfrm>
            <a:off x="8644434" y="2508331"/>
            <a:ext cx="760809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EB68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8000" dirty="0"/>
          </a:p>
        </p:txBody>
      </p:sp>
      <p:sp>
        <p:nvSpPr>
          <p:cNvPr id="22" name="Shape 16"/>
          <p:cNvSpPr/>
          <p:nvPr/>
        </p:nvSpPr>
        <p:spPr>
          <a:xfrm>
            <a:off x="10490315" y="2660715"/>
            <a:ext cx="711150" cy="71115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23" name="Image 4" descr="Char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642699" y="2813100"/>
            <a:ext cx="406383" cy="40638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44434" y="3676715"/>
            <a:ext cx="2633743" cy="685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and system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8644434" y="4489481"/>
            <a:ext cx="26337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C9D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C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711150" y="5842081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" name="Image 5" descr="Clo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87301" y="5918231"/>
            <a:ext cx="254000" cy="2540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69917" y="5880199"/>
            <a:ext cx="609232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every </a:t>
            </a: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to 12 days</a:t>
            </a: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Shape 21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" name="Text 22"/>
          <p:cNvSpPr/>
          <p:nvPr/>
        </p:nvSpPr>
        <p:spPr>
          <a:xfrm>
            <a:off x="711150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32" name="Text 24"/>
          <p:cNvSpPr/>
          <p:nvPr/>
        </p:nvSpPr>
        <p:spPr>
          <a:xfrm>
            <a:off x="142230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34" name="Text 26"/>
          <p:cNvSpPr/>
          <p:nvPr/>
        </p:nvSpPr>
        <p:spPr>
          <a:xfrm>
            <a:off x="213345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36" name="Text 28"/>
          <p:cNvSpPr/>
          <p:nvPr/>
        </p:nvSpPr>
        <p:spPr>
          <a:xfrm>
            <a:off x="284460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37" name="Shape 29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38" name="Text 30"/>
          <p:cNvSpPr/>
          <p:nvPr/>
        </p:nvSpPr>
        <p:spPr>
          <a:xfrm>
            <a:off x="355575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39" name="Text 31"/>
          <p:cNvSpPr/>
          <p:nvPr/>
        </p:nvSpPr>
        <p:spPr>
          <a:xfrm>
            <a:off x="4393902" y="330132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image of Hurulu Wewa, full, on a clear day">    </p:cNvPr>
          <p:cNvPicPr>
            <a:picLocks noChangeAspect="1"/>
          </p:cNvPicPr>
          <p:nvPr/>
        </p:nvPicPr>
        <p:blipFill>
          <a:blip r:embed="rId1"/>
          <a:srcRect l="0" r="0" t="3332" b="3332"/>
          <a:stretch/>
        </p:blipFill>
        <p:spPr>
          <a:xfrm>
            <a:off x="0" y="2857500"/>
            <a:ext cx="4064000" cy="4000500"/>
          </a:xfrm>
          <a:prstGeom prst="rect">
            <a:avLst/>
          </a:prstGeom>
        </p:spPr>
      </p:pic>
      <p:pic>
        <p:nvPicPr>
          <p:cNvPr id="3" name="Image 1" descr="Sentinel-2 image of Hurulu Wewa hidden by monsoon cloud">    </p:cNvPr>
          <p:cNvPicPr>
            <a:picLocks noChangeAspect="1"/>
          </p:cNvPicPr>
          <p:nvPr/>
        </p:nvPicPr>
        <p:blipFill>
          <a:blip r:embed="rId2"/>
          <a:srcRect l="0" r="0" t="3332" b="3332"/>
          <a:stretch/>
        </p:blipFill>
        <p:spPr>
          <a:xfrm>
            <a:off x="4064000" y="2857500"/>
            <a:ext cx="4064000" cy="4000500"/>
          </a:xfrm>
          <a:prstGeom prst="rect">
            <a:avLst/>
          </a:prstGeom>
        </p:spPr>
      </p:pic>
      <p:pic>
        <p:nvPicPr>
          <p:cNvPr id="4" name="Image 2" descr="Sentinel-1 radar image of Hurulu Wewa through the cloud, the water dark">    </p:cNvPr>
          <p:cNvPicPr>
            <a:picLocks noChangeAspect="1"/>
          </p:cNvPicPr>
          <p:nvPr/>
        </p:nvPicPr>
        <p:blipFill>
          <a:blip r:embed="rId3"/>
          <a:srcRect l="0" r="0" t="3332" b="3332"/>
          <a:stretch/>
        </p:blipFill>
        <p:spPr>
          <a:xfrm>
            <a:off x="8128000" y="2857500"/>
            <a:ext cx="4064000" cy="40005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83" y="3009881"/>
            <a:ext cx="1385838" cy="444417"/>
          </a:xfrm>
          <a:prstGeom prst="roundRect">
            <a:avLst>
              <a:gd name="adj" fmla="val 11431"/>
            </a:avLst>
          </a:prstGeom>
          <a:solidFill>
            <a:srgbClr val="0B2230">
              <a:alpha val="82000"/>
            </a:srgbClr>
          </a:solidFill>
          <a:ln/>
        </p:spPr>
        <p:txBody>
          <a:bodyPr wrap="none" lIns="0" tIns="0" rIns="0" bIns="12700" rtlCol="0" anchor="ctr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Clear day</a:t>
            </a:r>
            <a:endParaRPr lang="en-US" sz="2000" dirty="0"/>
          </a:p>
        </p:txBody>
      </p:sp>
      <p:sp>
        <p:nvSpPr>
          <p:cNvPr id="6" name="Text 1"/>
          <p:cNvSpPr/>
          <p:nvPr/>
        </p:nvSpPr>
        <p:spPr>
          <a:xfrm>
            <a:off x="4216383" y="3009881"/>
            <a:ext cx="2137668" cy="444417"/>
          </a:xfrm>
          <a:prstGeom prst="roundRect">
            <a:avLst>
              <a:gd name="adj" fmla="val 11431"/>
            </a:avLst>
          </a:prstGeom>
          <a:solidFill>
            <a:srgbClr val="0B2230">
              <a:alpha val="82000"/>
            </a:srgbClr>
          </a:solidFill>
          <a:ln/>
        </p:spPr>
        <p:txBody>
          <a:bodyPr wrap="none" lIns="0" tIns="0" rIns="0" bIns="12700" rtlCol="0" anchor="ctr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Monsoon cloud</a:t>
            </a:r>
            <a:endParaRPr lang="en-US" sz="2000" dirty="0"/>
          </a:p>
        </p:txBody>
      </p:sp>
      <p:sp>
        <p:nvSpPr>
          <p:cNvPr id="7" name="Text 2"/>
          <p:cNvSpPr/>
          <p:nvPr/>
        </p:nvSpPr>
        <p:spPr>
          <a:xfrm>
            <a:off x="8280383" y="3009881"/>
            <a:ext cx="2586302" cy="444417"/>
          </a:xfrm>
          <a:prstGeom prst="roundRect">
            <a:avLst>
              <a:gd name="adj" fmla="val 11431"/>
            </a:avLst>
          </a:prstGeom>
          <a:solidFill>
            <a:srgbClr val="0B2230">
              <a:alpha val="82000"/>
            </a:srgbClr>
          </a:solidFill>
          <a:ln/>
        </p:spPr>
        <p:txBody>
          <a:bodyPr wrap="none" lIns="0" tIns="0" rIns="0" bIns="12700" rtlCol="0" anchor="ctr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sees through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0" y="6146850"/>
            <a:ext cx="4064000" cy="709993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Hurulu Wewa on a clear day, 28 February 2026: full, 10.8 km² of water; SWOT height 132.35 m on 10 March 2026. Contains modified Copernicus Sentinel data 2026.</a:t>
            </a:r>
            <a:endParaRPr lang="en-US" sz="1100" dirty="0"/>
          </a:p>
        </p:txBody>
      </p:sp>
      <p:sp>
        <p:nvSpPr>
          <p:cNvPr id="9" name="Text 4"/>
          <p:cNvSpPr/>
          <p:nvPr/>
        </p:nvSpPr>
        <p:spPr>
          <a:xfrm>
            <a:off x="4064000" y="6146850"/>
            <a:ext cx="4064000" cy="528340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Hurulu Wewa, 30 November 2025: monsoon cloud hides the tank. Contains modified Copernicus Sentinel data 2025.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8128000" y="6146850"/>
            <a:ext cx="4064000" cy="709993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Hurulu Wewa, 2 December 2025, Sentinel-1 radar: water shows dark, even under cloud. Contains modified Copernicus Sentinel data 2025.</a:t>
            </a:r>
            <a:endParaRPr lang="en-US" sz="1100" dirty="0"/>
          </a:p>
        </p:txBody>
      </p:sp>
      <p:sp>
        <p:nvSpPr>
          <p:cNvPr id="11" name="Text 6"/>
          <p:cNvSpPr/>
          <p:nvPr>
            <p:ph type="title"/>
          </p:nvPr>
        </p:nvSpPr>
        <p:spPr>
          <a:xfrm>
            <a:off x="711150" y="863532"/>
            <a:ext cx="575564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Work and Gap</a:t>
            </a:r>
            <a:endParaRPr lang="en-US" sz="3200" dirty="0"/>
          </a:p>
        </p:txBody>
      </p:sp>
      <p:sp>
        <p:nvSpPr>
          <p:cNvPr id="12" name="Text 7"/>
          <p:cNvSpPr/>
          <p:nvPr/>
        </p:nvSpPr>
        <p:spPr>
          <a:xfrm>
            <a:off x="711150" y="1407002"/>
            <a:ext cx="57556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A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711150" y="1772707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14" name="Image 3" descr="Glob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87301" y="1848858"/>
            <a:ext cx="254000" cy="2540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69917" y="1810823"/>
            <a:ext cx="518011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Sentinel-1: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0.67 to 0.94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(Perera &amp; Jayaweera 2020)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711150" y="2280624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17" name="Image 4" descr="Cod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87301" y="2356774"/>
            <a:ext cx="254000" cy="2540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69917" y="2318742"/>
            <a:ext cx="518011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U-Net,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SWOT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(Pruekthikanee 2026)</a:t>
            </a:r>
            <a:endParaRPr lang="en-US" sz="2000" dirty="0"/>
          </a:p>
        </p:txBody>
      </p:sp>
      <p:sp>
        <p:nvSpPr>
          <p:cNvPr id="19" name="Text 12"/>
          <p:cNvSpPr/>
          <p:nvPr/>
        </p:nvSpPr>
        <p:spPr>
          <a:xfrm>
            <a:off x="6603917" y="863532"/>
            <a:ext cx="4876932" cy="1823475"/>
          </a:xfrm>
          <a:prstGeom prst="roundRect">
            <a:avLst>
              <a:gd name="adj" fmla="val 5572"/>
            </a:avLst>
          </a:prstGeom>
          <a:solidFill>
            <a:srgbClr val="EAF2FC"/>
          </a:solidFill>
          <a:ln/>
        </p:spPr>
        <p:txBody>
          <a:bodyPr wrap="square" lIns="198776" tIns="148042" rIns="66180" bIns="148042" rtlCol="0" anchor="ctr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Clouds and floating plants hide the water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(Dawalagala et al. 2023)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In our check, only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to 22%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Sentinel-2 dates were clear.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711150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sp>
        <p:nvSpPr>
          <p:cNvPr id="23" name="Text 16"/>
          <p:cNvSpPr/>
          <p:nvPr/>
        </p:nvSpPr>
        <p:spPr>
          <a:xfrm>
            <a:off x="142230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5" name="Text 18"/>
          <p:cNvSpPr/>
          <p:nvPr/>
        </p:nvSpPr>
        <p:spPr>
          <a:xfrm>
            <a:off x="213345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7" name="Text 20"/>
          <p:cNvSpPr/>
          <p:nvPr/>
        </p:nvSpPr>
        <p:spPr>
          <a:xfrm>
            <a:off x="284460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9" name="Text 22"/>
          <p:cNvSpPr/>
          <p:nvPr/>
        </p:nvSpPr>
        <p:spPr>
          <a:xfrm>
            <a:off x="355575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4393902" y="330132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15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1 radar image of Mahakanadarawa during Cyclone Ditwah, the open water dark blue">    </p:cNvPr>
          <p:cNvPicPr>
            <a:picLocks noChangeAspect="1"/>
          </p:cNvPicPr>
          <p:nvPr/>
        </p:nvPicPr>
        <p:blipFill>
          <a:blip r:embed="rId1"/>
          <a:srcRect l="5556" r="5556" t="0" b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6000" y="6122622"/>
            <a:ext cx="6096000" cy="735376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203200" tIns="88900" rIns="32512" bIns="762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Mahakanadarawa on 26 November 2025, as Cyclone Ditwah formed, when photos showed only cloud. Open water is dark blue. Contains modified Copernicus Sentinel data 2025; labels © OpenStreetMap contributors.</a:t>
            </a:r>
            <a:endParaRPr lang="en-US" sz="11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711150" y="863532"/>
            <a:ext cx="523240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Approach and Data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711150" y="1407002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11150" y="1823473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7" name="Image 1" descr="Glob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7301" y="1899624"/>
            <a:ext cx="254000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69917" y="1861573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U-Net on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Sentinel-1 radar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+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Sentinel-2 photos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maps water under cloud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711150" y="2724959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CLASSES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717500" y="3020780"/>
            <a:ext cx="1629701" cy="402034"/>
          </a:xfrm>
          <a:custGeom>
            <a:avLst/>
            <a:gdLst/>
            <a:ahLst/>
            <a:cxnLst/>
            <a:rect l="l" t="t" r="r" b="b"/>
            <a:pathLst>
              <a:path w="1629701" h="402034">
                <a:moveTo>
                  <a:pt x="201017" y="0"/>
                </a:moveTo>
                <a:lnTo>
                  <a:pt x="1428684" y="0"/>
                </a:lnTo>
                <a:arcTo hR="201017" wR="201017" stAng="16200000" swAng="5400000"/>
                <a:lnTo>
                  <a:pt x="1629701" y="201017"/>
                </a:lnTo>
                <a:arcTo hR="201017" wR="201017" stAng="0" swAng="5400000"/>
                <a:lnTo>
                  <a:pt x="201017" y="402034"/>
                </a:lnTo>
                <a:arcTo hR="201017" wR="201017" stAng="5400000" swAng="5400000"/>
                <a:lnTo>
                  <a:pt x="0" y="201017"/>
                </a:lnTo>
                <a:arcTo hR="201017" wR="201017" stAng="10800000" swAng="5400000"/>
                <a:close/>
              </a:path>
            </a:pathLst>
          </a:custGeom>
          <a:solidFill>
            <a:srgbClr val="EAF2FC"/>
          </a:solidFill>
          <a:ln w="12700">
            <a:solidFill>
              <a:srgbClr val="2A78D6"/>
            </a:solidFill>
            <a:prstDash val="solid"/>
          </a:ln>
        </p:spPr>
        <p:txBody>
          <a:bodyPr wrap="none" lIns="0" tIns="0" rIns="0" bIns="12700" rtlCol="0" anchor="ctr">
            <a:normAutofit/>
          </a:bodyPr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water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2436052" y="3020780"/>
            <a:ext cx="2494640" cy="402034"/>
          </a:xfrm>
          <a:custGeom>
            <a:avLst/>
            <a:gdLst/>
            <a:ahLst/>
            <a:cxnLst/>
            <a:rect l="l" t="t" r="r" b="b"/>
            <a:pathLst>
              <a:path w="2494640" h="402034">
                <a:moveTo>
                  <a:pt x="201017" y="0"/>
                </a:moveTo>
                <a:lnTo>
                  <a:pt x="2293623" y="0"/>
                </a:lnTo>
                <a:arcTo hR="201017" wR="201017" stAng="16200000" swAng="5400000"/>
                <a:lnTo>
                  <a:pt x="2494640" y="201017"/>
                </a:lnTo>
                <a:arcTo hR="201017" wR="201017" stAng="0" swAng="5400000"/>
                <a:lnTo>
                  <a:pt x="201017" y="402034"/>
                </a:lnTo>
                <a:arcTo hR="201017" wR="201017" stAng="5400000" swAng="5400000"/>
                <a:lnTo>
                  <a:pt x="0" y="201017"/>
                </a:lnTo>
                <a:arcTo hR="201017" wR="201017" stAng="10800000" swAng="5400000"/>
                <a:close/>
              </a:path>
            </a:pathLst>
          </a:custGeom>
          <a:solidFill>
            <a:srgbClr val="EAF2FC"/>
          </a:solidFill>
          <a:ln w="12700">
            <a:solidFill>
              <a:srgbClr val="2A78D6"/>
            </a:solidFill>
            <a:prstDash val="solid"/>
          </a:ln>
        </p:spPr>
        <p:txBody>
          <a:bodyPr wrap="none" lIns="0" tIns="0" rIns="0" bIns="12700" rtlCol="0" anchor="ctr">
            <a:normAutofit/>
          </a:bodyPr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under plants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17500" y="3511665"/>
            <a:ext cx="845790" cy="402034"/>
          </a:xfrm>
          <a:custGeom>
            <a:avLst/>
            <a:gdLst/>
            <a:ahLst/>
            <a:cxnLst/>
            <a:rect l="l" t="t" r="r" b="b"/>
            <a:pathLst>
              <a:path w="845790" h="402034">
                <a:moveTo>
                  <a:pt x="201017" y="0"/>
                </a:moveTo>
                <a:lnTo>
                  <a:pt x="644773" y="0"/>
                </a:lnTo>
                <a:arcTo hR="201017" wR="201017" stAng="16200000" swAng="5400000"/>
                <a:lnTo>
                  <a:pt x="845790" y="201017"/>
                </a:lnTo>
                <a:arcTo hR="201017" wR="201017" stAng="0" swAng="5400000"/>
                <a:lnTo>
                  <a:pt x="201017" y="402034"/>
                </a:lnTo>
                <a:arcTo hR="201017" wR="201017" stAng="5400000" swAng="5400000"/>
                <a:lnTo>
                  <a:pt x="0" y="201017"/>
                </a:lnTo>
                <a:arcTo hR="201017" wR="201017" stAng="10800000" swAng="5400000"/>
                <a:close/>
              </a:path>
            </a:pathLst>
          </a:custGeom>
          <a:solidFill>
            <a:srgbClr val="EAF2FC"/>
          </a:solidFill>
          <a:ln w="12700">
            <a:solidFill>
              <a:srgbClr val="2A78D6"/>
            </a:solidFill>
            <a:prstDash val="solid"/>
          </a:ln>
        </p:spPr>
        <p:txBody>
          <a:bodyPr wrap="none" lIns="0" tIns="0" rIns="0" bIns="12700" rtlCol="0" anchor="ctr">
            <a:normAutofit/>
          </a:bodyPr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711150" y="4123199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14" name="Image 2" descr="Databas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7301" y="4199350"/>
            <a:ext cx="254000" cy="254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9917" y="4161299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Pre-trained on Sen1Floods11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(Bonafilia et al. 2020)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S1S2-Water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(Wieland et al. 2024)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11150" y="5024686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17" name="Image 3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87301" y="5100836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9917" y="5062786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Fine-tuned on our masks, including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cloudy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plant-covered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tanks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0" name="Text 14"/>
          <p:cNvSpPr/>
          <p:nvPr/>
        </p:nvSpPr>
        <p:spPr>
          <a:xfrm>
            <a:off x="711150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sp>
        <p:nvSpPr>
          <p:cNvPr id="22" name="Text 16"/>
          <p:cNvSpPr/>
          <p:nvPr/>
        </p:nvSpPr>
        <p:spPr>
          <a:xfrm>
            <a:off x="142230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213345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284460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355575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4393902" y="330132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15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0" descr="bulankulama_2026-03-25_hq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6000" y="6122622"/>
            <a:ext cx="6096000" cy="735376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203200" tIns="88900" rIns="32512" bIns="762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we add our own labels: Bulankulama tank, 25 March 2026, covered in plants. A simple water index misses it, yet SWOT has 47 usable heights here. Contains modified Copernicus Sentinel data 2026.</a:t>
            </a:r>
            <a:endParaRPr lang="en-US" sz="11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711150" y="863532"/>
            <a:ext cx="5232400" cy="953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57"/>
              </a:lnSpc>
              <a:buNone/>
            </a:pPr>
            <a:r>
              <a:rPr lang="en-US" sz="318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and Early Evidence</a:t>
            </a:r>
            <a:endParaRPr lang="en-US" sz="3180" dirty="0"/>
          </a:p>
        </p:txBody>
      </p:sp>
      <p:sp>
        <p:nvSpPr>
          <p:cNvPr id="5" name="Text 2"/>
          <p:cNvSpPr/>
          <p:nvPr/>
        </p:nvSpPr>
        <p:spPr>
          <a:xfrm>
            <a:off x="711150" y="1867957"/>
            <a:ext cx="5232400" cy="237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6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A</a:t>
            </a:r>
            <a:endParaRPr lang="en-US" sz="1396" dirty="0"/>
          </a:p>
        </p:txBody>
      </p:sp>
      <p:sp>
        <p:nvSpPr>
          <p:cNvPr id="6" name="Shape 3"/>
          <p:cNvSpPr/>
          <p:nvPr/>
        </p:nvSpPr>
        <p:spPr>
          <a:xfrm>
            <a:off x="711150" y="2257639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7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7301" y="2333789"/>
            <a:ext cx="254000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69917" y="2295739"/>
            <a:ext cx="4656870" cy="355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IoU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against hand labels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711150" y="2737445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10" name="Image 2" descr="Cloud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7301" y="2813596"/>
            <a:ext cx="254000" cy="254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69917" y="2775545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Cloudy and plant-covered tanks scored separately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711150" y="3507135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pic>
        <p:nvPicPr>
          <p:cNvPr id="13" name="Image 3" descr="Search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87301" y="3583285"/>
            <a:ext cx="254000" cy="2540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69917" y="3545235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Baselines: simple water-index and radar-threshold rules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711150" y="4556206"/>
            <a:ext cx="5080000" cy="1844642"/>
          </a:xfrm>
          <a:prstGeom prst="roundRect">
            <a:avLst>
              <a:gd name="adj" fmla="val 5508"/>
            </a:avLst>
          </a:prstGeom>
          <a:solidFill>
            <a:srgbClr val="EAF2FC"/>
          </a:solidFill>
          <a:ln/>
        </p:spPr>
        <p:txBody>
          <a:bodyPr/>
          <a:p/>
        </p:txBody>
      </p:sp>
      <p:sp>
        <p:nvSpPr>
          <p:cNvPr id="16" name="Text 10"/>
          <p:cNvSpPr/>
          <p:nvPr/>
        </p:nvSpPr>
        <p:spPr>
          <a:xfrm>
            <a:off x="939684" y="4733975"/>
            <a:ext cx="4761620" cy="782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63"/>
              </a:lnSpc>
              <a:buNone/>
            </a:pPr>
            <a:r>
              <a:rPr lang="en-US" sz="5963" b="1" spc="-10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57-100%</a:t>
            </a:r>
            <a:endParaRPr lang="en-US" sz="5963" dirty="0"/>
          </a:p>
        </p:txBody>
      </p:sp>
      <p:sp>
        <p:nvSpPr>
          <p:cNvPr id="17" name="Text 11"/>
          <p:cNvSpPr/>
          <p:nvPr/>
        </p:nvSpPr>
        <p:spPr>
          <a:xfrm>
            <a:off x="939684" y="5541776"/>
            <a:ext cx="4761620" cy="681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84"/>
              </a:lnSpc>
              <a:buNone/>
            </a:pPr>
            <a:r>
              <a:rPr lang="en-US" sz="1988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far off simple rules were at </a:t>
            </a:r>
            <a:r>
              <a:rPr lang="en-US" sz="1988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Kanhindawewa</a:t>
            </a:r>
            <a:r>
              <a:rPr lang="en-US" sz="1988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 plant-covered tank</a:t>
            </a:r>
            <a:endParaRPr lang="en-US" sz="1988" dirty="0"/>
          </a:p>
        </p:txBody>
      </p:sp>
      <p:sp>
        <p:nvSpPr>
          <p:cNvPr id="18" name="Shape 12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19" name="Text 13"/>
          <p:cNvSpPr/>
          <p:nvPr/>
        </p:nvSpPr>
        <p:spPr>
          <a:xfrm>
            <a:off x="711150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/>
        </p:spPr>
        <p:txBody>
          <a:bodyPr/>
          <a:p/>
        </p:txBody>
      </p:sp>
      <p:sp>
        <p:nvSpPr>
          <p:cNvPr id="21" name="Text 15"/>
          <p:cNvSpPr/>
          <p:nvPr/>
        </p:nvSpPr>
        <p:spPr>
          <a:xfrm>
            <a:off x="142230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2133451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284460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3555752" y="330067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4393902" y="330132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15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0" y="0"/>
            <a:ext cx="6858000" cy="6858000"/>
          </a:xfrm>
          <a:prstGeom prst="rect">
            <a:avLst/>
          </a:prstGeom>
          <a:solidFill>
            <a:srgbClr val="FFFDF9"/>
          </a:solidFill>
          <a:ln/>
        </p:spPr>
        <p:txBody>
          <a:bodyPr/>
          <a:p/>
        </p:txBody>
      </p:sp>
      <p:pic>
        <p:nvPicPr>
          <p:cNvPr id="3" name="Image 0" descr="Chart of SWOT water heights at Hurulu Wewa, July 2023 to October 2026, rising and falling between about 128 and 133 m each year: best-quality readings as blue dots, “suspect” readings as orange rings and flagged-bad readings as grey crosses">    </p:cNvPr>
          <p:cNvPicPr>
            <a:picLocks noChangeAspect="1"/>
          </p:cNvPicPr>
          <p:nvPr/>
        </p:nvPicPr>
        <p:blipFill>
          <a:blip r:embed="rId1"/>
          <a:srcRect l="-19" r="-19" t="0" b="0"/>
          <a:stretch/>
        </p:blipFill>
        <p:spPr>
          <a:xfrm>
            <a:off x="5384767" y="1358881"/>
            <a:ext cx="6756383" cy="36321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37150" y="5118032"/>
            <a:ext cx="6645080" cy="388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Hurulu Wewa: every SWOT pass, July 2023 to October 2026 (101 readings; 4 far-off ones are off the chart). Data: NASA/CNES SWOT, via Hydrocron.</a:t>
            </a:r>
            <a:endParaRPr lang="en-US" sz="11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711150" y="863532"/>
            <a:ext cx="4552120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SWOT Heights Against the Gauges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11150" y="1874323"/>
            <a:ext cx="45521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B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1150" y="2290794"/>
            <a:ext cx="45521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THE 5 MAJOR RESERVOIRS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11150" y="2707264"/>
            <a:ext cx="3349962" cy="787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spc="-1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0.40-0.64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4052424" y="3030054"/>
            <a:ext cx="423118" cy="4317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1150" y="3520033"/>
            <a:ext cx="4552120" cy="685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 offset above the department's levels, removed once per reservoir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11150" y="4383484"/>
            <a:ext cx="3349962" cy="787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spc="-1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0.07-0.13</a:t>
            </a:r>
            <a:endParaRPr lang="en-US" sz="6000" dirty="0"/>
          </a:p>
        </p:txBody>
      </p:sp>
      <p:sp>
        <p:nvSpPr>
          <p:cNvPr id="12" name="Text 9"/>
          <p:cNvSpPr/>
          <p:nvPr/>
        </p:nvSpPr>
        <p:spPr>
          <a:xfrm>
            <a:off x="4052424" y="4706274"/>
            <a:ext cx="423118" cy="4317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1150" y="5196247"/>
            <a:ext cx="455212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around 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11150" y="5964932"/>
            <a:ext cx="4419534" cy="0"/>
          </a:xfrm>
          <a:prstGeom prst="line">
            <a:avLst/>
          </a:prstGeom>
          <a:noFill/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11150" y="6070765"/>
            <a:ext cx="4552120" cy="355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to 90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usable readings per tank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11150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42230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213345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84460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355575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93902" y="330132"/>
            <a:ext cx="54510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15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711150" y="863532"/>
            <a:ext cx="1109279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Screen for “Suspect” Readings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11150" y="1407002"/>
            <a:ext cx="110927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11150" y="1823473"/>
            <a:ext cx="1109279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SWOT marks almost every small-tank reading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“suspect”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11150" y="2229774"/>
            <a:ext cx="1109279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Screen: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gradient boosting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SWOT’s quality fields.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1150" y="4003309"/>
            <a:ext cx="110927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ERROR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11150" y="4495930"/>
            <a:ext cx="28778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screen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11150" y="4838812"/>
            <a:ext cx="28778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keeps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85%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readings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08301" y="4419780"/>
            <a:ext cx="3536900" cy="812767"/>
          </a:xfrm>
          <a:prstGeom prst="roundRect">
            <a:avLst>
              <a:gd name="adj" fmla="val 6250"/>
            </a:avLst>
          </a:prstGeom>
          <a:solidFill>
            <a:srgbClr val="1BAF7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48352" y="4419780"/>
            <a:ext cx="2676624" cy="838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b="1" spc="-10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cm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711150" y="5683331"/>
            <a:ext cx="28778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SWOT’s own flags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708301" y="5435699"/>
            <a:ext cx="4953000" cy="812767"/>
          </a:xfrm>
          <a:prstGeom prst="roundRect">
            <a:avLst>
              <a:gd name="adj" fmla="val 6250"/>
            </a:avLst>
          </a:prstGeom>
          <a:solidFill>
            <a:srgbClr val="B7C2C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864451" y="5435699"/>
            <a:ext cx="2676624" cy="838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b="1" spc="-10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cm</a:t>
            </a:r>
            <a:endParaRPr lang="en-US" sz="6400" dirty="0"/>
          </a:p>
        </p:txBody>
      </p:sp>
      <p:sp>
        <p:nvSpPr>
          <p:cNvPr id="14" name="Shape 12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11150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42230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13345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84460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55575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393902" y="330132"/>
            <a:ext cx="660102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15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image of Hurulu Wewa when low, July 2023">    </p:cNvPr>
          <p:cNvPicPr>
            <a:picLocks noChangeAspect="1"/>
          </p:cNvPicPr>
          <p:nvPr/>
        </p:nvPicPr>
        <p:blipFill>
          <a:blip r:embed="rId1"/>
          <a:srcRect l="0" r="0" t="1850" b="1850"/>
          <a:stretch/>
        </p:blipFill>
        <p:spPr>
          <a:xfrm>
            <a:off x="0" y="2730500"/>
            <a:ext cx="4064000" cy="4127500"/>
          </a:xfrm>
          <a:prstGeom prst="rect">
            <a:avLst/>
          </a:prstGeom>
        </p:spPr>
      </p:pic>
      <p:pic>
        <p:nvPicPr>
          <p:cNvPr id="3" name="Image 1" descr="Sentinel-2 image of Hurulu Wewa when half full, July 2025">    </p:cNvPr>
          <p:cNvPicPr>
            <a:picLocks noChangeAspect="1"/>
          </p:cNvPicPr>
          <p:nvPr/>
        </p:nvPicPr>
        <p:blipFill>
          <a:blip r:embed="rId2"/>
          <a:srcRect l="0" r="0" t="1850" b="1850"/>
          <a:stretch/>
        </p:blipFill>
        <p:spPr>
          <a:xfrm>
            <a:off x="4064000" y="2730500"/>
            <a:ext cx="4064000" cy="4127500"/>
          </a:xfrm>
          <a:prstGeom prst="rect">
            <a:avLst/>
          </a:prstGeom>
        </p:spPr>
      </p:pic>
      <p:pic>
        <p:nvPicPr>
          <p:cNvPr id="4" name="Image 2" descr="Sentinel-2 image of Hurulu Wewa when full, February 2026">    </p:cNvPr>
          <p:cNvPicPr>
            <a:picLocks noChangeAspect="1"/>
          </p:cNvPicPr>
          <p:nvPr/>
        </p:nvPicPr>
        <p:blipFill>
          <a:blip r:embed="rId3"/>
          <a:srcRect l="0" r="0" t="1850" b="1850"/>
          <a:stretch/>
        </p:blipFill>
        <p:spPr>
          <a:xfrm>
            <a:off x="8128000" y="2730500"/>
            <a:ext cx="4064000" cy="41275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0" y="2730500"/>
            <a:ext cx="4064000" cy="482534"/>
          </a:xfrm>
          <a:prstGeom prst="rect">
            <a:avLst/>
          </a:prstGeom>
          <a:solidFill>
            <a:srgbClr val="0B2230">
              <a:alpha val="82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127.59 m, 6.1 km²</a:t>
            </a:r>
            <a:endParaRPr lang="en-US" sz="2000" dirty="0"/>
          </a:p>
        </p:txBody>
      </p:sp>
      <p:sp>
        <p:nvSpPr>
          <p:cNvPr id="6" name="Text 1"/>
          <p:cNvSpPr/>
          <p:nvPr/>
        </p:nvSpPr>
        <p:spPr>
          <a:xfrm>
            <a:off x="4064000" y="2730500"/>
            <a:ext cx="4064000" cy="482534"/>
          </a:xfrm>
          <a:prstGeom prst="rect">
            <a:avLst/>
          </a:prstGeom>
          <a:solidFill>
            <a:srgbClr val="0B2230">
              <a:alpha val="82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129.50 m, 8.3 km²</a:t>
            </a:r>
            <a:endParaRPr lang="en-US" sz="2000" dirty="0"/>
          </a:p>
        </p:txBody>
      </p:sp>
      <p:sp>
        <p:nvSpPr>
          <p:cNvPr id="7" name="Text 2"/>
          <p:cNvSpPr/>
          <p:nvPr/>
        </p:nvSpPr>
        <p:spPr>
          <a:xfrm>
            <a:off x="8128000" y="2730500"/>
            <a:ext cx="4064000" cy="482534"/>
          </a:xfrm>
          <a:prstGeom prst="rect">
            <a:avLst/>
          </a:prstGeom>
          <a:solidFill>
            <a:srgbClr val="0B2230">
              <a:alpha val="82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132.35 m, 10.8 km²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0" y="6146850"/>
            <a:ext cx="4064000" cy="709993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Hurulu Wewa, 29 July 2023: low, 6.1 km² of water; SWOT height 127.59 m on 30 July 2023. Contains modified Copernicus Sentinel data 2023.</a:t>
            </a:r>
            <a:endParaRPr lang="en-US" sz="1100" dirty="0"/>
          </a:p>
        </p:txBody>
      </p:sp>
      <p:sp>
        <p:nvSpPr>
          <p:cNvPr id="9" name="Text 4"/>
          <p:cNvSpPr/>
          <p:nvPr/>
        </p:nvSpPr>
        <p:spPr>
          <a:xfrm>
            <a:off x="4064000" y="6146850"/>
            <a:ext cx="4064000" cy="709993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Hurulu Wewa, 30 July 2025: half full, 8.3 km² of water; SWOT height 129.50 m the same day. Contains modified Copernicus Sentinel data 2025.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8128000" y="6146850"/>
            <a:ext cx="4064000" cy="709993"/>
          </a:xfrm>
          <a:prstGeom prst="rect">
            <a:avLst/>
          </a:prstGeom>
          <a:solidFill>
            <a:srgbClr val="0B2230">
              <a:alpha val="80000"/>
            </a:srgbClr>
          </a:solidFill>
          <a:ln/>
        </p:spPr>
        <p:txBody>
          <a:bodyPr wrap="square" lIns="152400" tIns="76200" rIns="39624" bIns="6350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Hurulu Wewa on a clear day, 28 February 2026: full, 10.8 km² of water; SWOT height 132.35 m on 10 March 2026. Contains modified Copernicus Sentinel data 2026.</a:t>
            </a:r>
            <a:endParaRPr lang="en-US" sz="1100" dirty="0"/>
          </a:p>
        </p:txBody>
      </p:sp>
      <p:sp>
        <p:nvSpPr>
          <p:cNvPr id="11" name="Text 6"/>
          <p:cNvSpPr/>
          <p:nvPr>
            <p:ph type="title"/>
          </p:nvPr>
        </p:nvSpPr>
        <p:spPr>
          <a:xfrm>
            <a:off x="711150" y="863532"/>
            <a:ext cx="4970780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Model:</a:t>
            </a:r>
            <a:endParaRPr lang="en-US" sz="3200" dirty="0"/>
          </a:p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Height + Area → % Full</a:t>
            </a:r>
            <a:endParaRPr lang="en-US" sz="3200" dirty="0"/>
          </a:p>
        </p:txBody>
      </p:sp>
      <p:sp>
        <p:nvSpPr>
          <p:cNvPr id="12" name="Text 7"/>
          <p:cNvSpPr/>
          <p:nvPr/>
        </p:nvSpPr>
        <p:spPr>
          <a:xfrm>
            <a:off x="711150" y="1874323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B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711150" y="2189175"/>
            <a:ext cx="497078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LightGBM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about 100 gauged reservoirs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5841917" y="863532"/>
            <a:ext cx="58081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ERROR, UNSEEN RESERVOIRS (% OF CAPACITY)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41917" y="1178384"/>
            <a:ext cx="1758487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spc="-1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6000" dirty="0"/>
          </a:p>
        </p:txBody>
      </p:sp>
      <p:sp>
        <p:nvSpPr>
          <p:cNvPr id="16" name="Text 11"/>
          <p:cNvSpPr/>
          <p:nvPr/>
        </p:nvSpPr>
        <p:spPr>
          <a:xfrm>
            <a:off x="5841917" y="1991153"/>
            <a:ext cx="163152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7600404" y="1178384"/>
            <a:ext cx="217776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spc="-1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11%</a:t>
            </a:r>
            <a:endParaRPr lang="en-US" sz="6000" dirty="0"/>
          </a:p>
        </p:txBody>
      </p:sp>
      <p:sp>
        <p:nvSpPr>
          <p:cNvPr id="18" name="Text 13"/>
          <p:cNvSpPr/>
          <p:nvPr/>
        </p:nvSpPr>
        <p:spPr>
          <a:xfrm>
            <a:off x="7600404" y="1991153"/>
            <a:ext cx="2060002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2 km²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9778173" y="1178384"/>
            <a:ext cx="177631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spc="-15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11%</a:t>
            </a:r>
            <a:endParaRPr lang="en-US" sz="6000" dirty="0"/>
          </a:p>
        </p:txBody>
      </p:sp>
      <p:sp>
        <p:nvSpPr>
          <p:cNvPr id="20" name="Text 15"/>
          <p:cNvSpPr/>
          <p:nvPr/>
        </p:nvSpPr>
        <p:spPr>
          <a:xfrm>
            <a:off x="9778173" y="1991153"/>
            <a:ext cx="1531061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formula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711150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42230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/>
        </p:spPr>
        <p:txBody>
          <a:bodyPr/>
          <a:p/>
        </p:txBody>
      </p:sp>
      <p:sp>
        <p:nvSpPr>
          <p:cNvPr id="26" name="Text 21"/>
          <p:cNvSpPr/>
          <p:nvPr/>
        </p:nvSpPr>
        <p:spPr>
          <a:xfrm>
            <a:off x="213345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284460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0" name="Text 25"/>
          <p:cNvSpPr/>
          <p:nvPr/>
        </p:nvSpPr>
        <p:spPr>
          <a:xfrm>
            <a:off x="355575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393902" y="330132"/>
            <a:ext cx="660102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15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711150" y="863532"/>
            <a:ext cx="1109279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Work and Approach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11150" y="1407002"/>
            <a:ext cx="110927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11150" y="1823473"/>
            <a:ext cx="10769699" cy="660383"/>
          </a:xfrm>
          <a:prstGeom prst="roundRect">
            <a:avLst>
              <a:gd name="adj" fmla="val 11539"/>
            </a:avLst>
          </a:prstGeom>
          <a:solidFill>
            <a:srgbClr val="FDEEE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301" y="1950473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6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451" y="2026624"/>
            <a:ext cx="254000" cy="2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73068" y="1988592"/>
            <a:ext cx="1009877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UoM forecasts used gauges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(Meyen 2018)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village tanks have none.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11150" y="2687005"/>
            <a:ext cx="2616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7500" y="2982826"/>
            <a:ext cx="2527300" cy="478267"/>
          </a:xfrm>
          <a:prstGeom prst="roundRect">
            <a:avLst>
              <a:gd name="adj" fmla="val 14605"/>
            </a:avLst>
          </a:prstGeom>
          <a:noFill/>
          <a:ln w="12700">
            <a:solidFill>
              <a:srgbClr val="D3DCE4"/>
            </a:solidFill>
            <a:prstDash val="solid"/>
          </a:ln>
        </p:spPr>
        <p:txBody>
          <a:bodyPr wrap="square" lIns="136175" tIns="47275" rIns="69754" bIns="34575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17500" y="3549948"/>
            <a:ext cx="2527300" cy="478267"/>
          </a:xfrm>
          <a:prstGeom prst="roundRect">
            <a:avLst>
              <a:gd name="adj" fmla="val 14605"/>
            </a:avLst>
          </a:prstGeom>
          <a:noFill/>
          <a:ln w="12700">
            <a:solidFill>
              <a:srgbClr val="D3DCE4"/>
            </a:solidFill>
            <a:prstDash val="solid"/>
          </a:ln>
        </p:spPr>
        <p:txBody>
          <a:bodyPr wrap="square" lIns="136175" tIns="47275" rIns="69754" bIns="34575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Season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17500" y="4117063"/>
            <a:ext cx="2527300" cy="478267"/>
          </a:xfrm>
          <a:prstGeom prst="roundRect">
            <a:avLst>
              <a:gd name="adj" fmla="val 14605"/>
            </a:avLst>
          </a:prstGeom>
          <a:noFill/>
          <a:ln w="12700">
            <a:solidFill>
              <a:srgbClr val="D3DCE4"/>
            </a:solidFill>
            <a:prstDash val="solid"/>
          </a:ln>
        </p:spPr>
        <p:txBody>
          <a:bodyPr wrap="square" lIns="136175" tIns="47275" rIns="69754" bIns="34575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17500" y="4684179"/>
            <a:ext cx="2527300" cy="478267"/>
          </a:xfrm>
          <a:prstGeom prst="roundRect">
            <a:avLst>
              <a:gd name="adj" fmla="val 14605"/>
            </a:avLst>
          </a:prstGeom>
          <a:noFill/>
          <a:ln w="12700">
            <a:solidFill>
              <a:srgbClr val="D3DCE4"/>
            </a:solidFill>
            <a:prstDash val="solid"/>
          </a:ln>
        </p:spPr>
        <p:txBody>
          <a:bodyPr wrap="square" lIns="136175" tIns="47275" rIns="69754" bIns="34575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Evaporation</a:t>
            </a:r>
            <a:endParaRPr lang="en-US" sz="20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-9" r="-9" t="0" b="0"/>
          <a:stretch/>
        </p:blipFill>
        <p:spPr>
          <a:xfrm>
            <a:off x="3505150" y="4086820"/>
            <a:ext cx="457150" cy="2285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16301" y="268700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222651" y="2982826"/>
            <a:ext cx="3035300" cy="478267"/>
          </a:xfrm>
          <a:prstGeom prst="roundRect">
            <a:avLst>
              <a:gd name="adj" fmla="val 14605"/>
            </a:avLst>
          </a:prstGeom>
          <a:solidFill>
            <a:srgbClr val="FDEEE6"/>
          </a:solidFill>
          <a:ln w="12700">
            <a:solidFill>
              <a:srgbClr val="EB6834"/>
            </a:solidFill>
            <a:prstDash val="solid"/>
          </a:ln>
        </p:spPr>
        <p:txBody>
          <a:bodyPr wrap="square" lIns="136175" tIns="47275" rIns="54514" bIns="34575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LSTM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222651" y="3549948"/>
            <a:ext cx="3035300" cy="478267"/>
          </a:xfrm>
          <a:prstGeom prst="roundRect">
            <a:avLst>
              <a:gd name="adj" fmla="val 14605"/>
            </a:avLst>
          </a:prstGeom>
          <a:noFill/>
          <a:ln w="12700">
            <a:solidFill>
              <a:srgbClr val="D3DCE4"/>
            </a:solidFill>
            <a:prstDash val="solid"/>
          </a:ln>
        </p:spPr>
        <p:txBody>
          <a:bodyPr wrap="square" lIns="136175" tIns="47275" rIns="54514" bIns="34575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Gradient boosting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222651" y="4117063"/>
            <a:ext cx="3035300" cy="478267"/>
          </a:xfrm>
          <a:prstGeom prst="roundRect">
            <a:avLst>
              <a:gd name="adj" fmla="val 14605"/>
            </a:avLst>
          </a:prstGeom>
          <a:noFill/>
          <a:ln w="12700">
            <a:solidFill>
              <a:srgbClr val="D3DCE4"/>
            </a:solidFill>
            <a:prstDash val="solid"/>
          </a:ln>
        </p:spPr>
        <p:txBody>
          <a:bodyPr wrap="square" lIns="136175" tIns="47275" rIns="54514" bIns="34575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“No change”</a:t>
            </a:r>
            <a:endParaRPr lang="en-US" sz="2000" dirty="0"/>
          </a:p>
        </p:txBody>
      </p:sp>
      <p:pic>
        <p:nvPicPr>
          <p:cNvPr id="18" name="Image 2" descr="arrow-right">    </p:cNvPr>
          <p:cNvPicPr>
            <a:picLocks noChangeAspect="1"/>
          </p:cNvPicPr>
          <p:nvPr/>
        </p:nvPicPr>
        <p:blipFill>
          <a:blip r:embed="rId3"/>
          <a:srcRect l="-9" r="-9" t="0" b="0"/>
          <a:stretch/>
        </p:blipFill>
        <p:spPr>
          <a:xfrm>
            <a:off x="7518301" y="4086820"/>
            <a:ext cx="457150" cy="228534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229451" y="3302000"/>
            <a:ext cx="3251398" cy="1798092"/>
          </a:xfrm>
          <a:prstGeom prst="roundRect">
            <a:avLst>
              <a:gd name="adj" fmla="val 5650"/>
            </a:avLst>
          </a:prstGeom>
          <a:solidFill>
            <a:srgbClr val="0B2230"/>
          </a:solidFill>
          <a:ln/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8432602" y="3530532"/>
            <a:ext cx="457150" cy="45715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21" name="Image 3" descr="Char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521485" y="3619413"/>
            <a:ext cx="279383" cy="27938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432602" y="4114682"/>
            <a:ext cx="2930451" cy="756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at 1, 2, 4 weeks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711150" y="5918312"/>
            <a:ext cx="1109279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Trained on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117 reservoirs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dirty="0">
                <a:solidFill>
                  <a:srgbClr val="6B7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(Irrigation Dept. 2026)</a:t>
            </a:r>
            <a:endParaRPr lang="en-US" sz="2000" dirty="0"/>
          </a:p>
        </p:txBody>
      </p:sp>
      <p:sp>
        <p:nvSpPr>
          <p:cNvPr id="24" name="Shape 18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711150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142230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9" name="Text 23"/>
          <p:cNvSpPr/>
          <p:nvPr/>
        </p:nvSpPr>
        <p:spPr>
          <a:xfrm>
            <a:off x="213345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284460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3" name="Text 27"/>
          <p:cNvSpPr/>
          <p:nvPr/>
        </p:nvSpPr>
        <p:spPr>
          <a:xfrm>
            <a:off x="355575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393902" y="330132"/>
            <a:ext cx="660102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15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150" y="0"/>
            <a:ext cx="7162767" cy="6858000"/>
          </a:xfrm>
          <a:prstGeom prst="rect">
            <a:avLst/>
          </a:prstGeom>
          <a:solidFill>
            <a:srgbClr val="FFFDF9"/>
          </a:solidFill>
          <a:ln/>
        </p:spPr>
        <p:txBody>
          <a:bodyPr/>
          <a:p/>
        </p:txBody>
      </p:sp>
      <p:pic>
        <p:nvPicPr>
          <p:cNvPr id="3" name="Image 0" descr="Bar chart of monthly rain at Hurulu Wewa, January 2021 to September 2026, with the highest bars each October to January">    </p:cNvPr>
          <p:cNvPicPr>
            <a:picLocks noChangeAspect="1"/>
          </p:cNvPicPr>
          <p:nvPr/>
        </p:nvPicPr>
        <p:blipFill>
          <a:blip r:embed="rId1"/>
          <a:srcRect l="-2" r="-2" t="0" b="0"/>
          <a:stretch/>
        </p:blipFill>
        <p:spPr>
          <a:xfrm>
            <a:off x="5080000" y="1270000"/>
            <a:ext cx="7061150" cy="37972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83150" y="5194263"/>
            <a:ext cx="6854410" cy="388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rain at Hurulu Wewa, January 2021 to September 2026: the October to January rains fill the tanks. Data: ERA5 via Open-Meteo (CC BY 4.0).</a:t>
            </a:r>
            <a:endParaRPr lang="en-US" sz="11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711150" y="863532"/>
            <a:ext cx="4238210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and Early Evidence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11150" y="1874323"/>
            <a:ext cx="4238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C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11150" y="2290794"/>
            <a:ext cx="4114767" cy="1904752"/>
          </a:xfrm>
          <a:prstGeom prst="roundRect">
            <a:avLst>
              <a:gd name="adj" fmla="val 5334"/>
            </a:avLst>
          </a:prstGeom>
          <a:solidFill>
            <a:srgbClr val="FDEEE6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301" y="2468563"/>
            <a:ext cx="3819720" cy="838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b="1" spc="-1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13-22%</a:t>
            </a:r>
            <a:endParaRPr lang="en-US" sz="6400" dirty="0"/>
          </a:p>
        </p:txBody>
      </p:sp>
      <p:sp>
        <p:nvSpPr>
          <p:cNvPr id="9" name="Text 6"/>
          <p:cNvSpPr/>
          <p:nvPr/>
        </p:nvSpPr>
        <p:spPr>
          <a:xfrm>
            <a:off x="914301" y="3332094"/>
            <a:ext cx="3819720" cy="685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than “no change” (gradient boosting)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11150" y="4638557"/>
            <a:ext cx="4238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spc="100" kern="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11150" y="4928028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12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7301" y="5004178"/>
            <a:ext cx="254000" cy="2540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69917" y="4966128"/>
            <a:ext cx="366268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the LSTM on unseen reservoirs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711150" y="5702511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15" name="Image 2" descr="Char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7301" y="5778661"/>
            <a:ext cx="254000" cy="2540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69917" y="5740611"/>
            <a:ext cx="366268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in % of capacity at 2 and 4 weeks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711150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142230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213345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284460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6" name="Text 21"/>
          <p:cNvSpPr/>
          <p:nvPr/>
        </p:nvSpPr>
        <p:spPr>
          <a:xfrm>
            <a:off x="355575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4393902" y="330132"/>
            <a:ext cx="635248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15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dashboard_mocku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9" name="Text 6"/>
          <p:cNvSpPr/>
          <p:nvPr>
            <p:ph type="title"/>
          </p:nvPr>
        </p:nvSpPr>
        <p:spPr>
          <a:xfrm>
            <a:off x="711150" y="863532"/>
            <a:ext cx="523240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and Dashboard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1150" y="1407002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A5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Owner: Member C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11150" y="1874323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7301" y="1950473"/>
            <a:ext cx="254000" cy="2540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69917" y="1912441"/>
            <a:ext cx="465687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Logger running since </a:t>
            </a: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Oct 2026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711150" y="2433092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15" name="Image 2" descr="Setting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7301" y="2509242"/>
            <a:ext cx="254000" cy="2540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69917" y="2471204"/>
            <a:ext cx="465687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A → B → C after each pass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711150" y="2991855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18" name="Image 3" descr="Cod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87301" y="3068005"/>
            <a:ext cx="254000" cy="2540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69917" y="3029973"/>
            <a:ext cx="465687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back end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711150" y="3550624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21" name="Image 4" descr="Glob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87301" y="3626774"/>
            <a:ext cx="254000" cy="254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69917" y="3588742"/>
            <a:ext cx="465687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+ Leaflet</a:t>
            </a: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dashboard</a:t>
            </a:r>
            <a:endParaRPr lang="en-US" sz="2000" dirty="0"/>
          </a:p>
        </p:txBody>
      </p:sp>
      <p:sp>
        <p:nvSpPr>
          <p:cNvPr id="23" name="Shape 16"/>
          <p:cNvSpPr/>
          <p:nvPr/>
        </p:nvSpPr>
        <p:spPr>
          <a:xfrm>
            <a:off x="711150" y="4109393"/>
            <a:ext cx="406383" cy="406383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pic>
        <p:nvPicPr>
          <p:cNvPr id="24" name="Image 5" descr="Users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87301" y="4185543"/>
            <a:ext cx="254000" cy="2540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269917" y="4147493"/>
            <a:ext cx="4656870" cy="685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irrigation officers and farmer organisations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7" name="Text 19"/>
          <p:cNvSpPr/>
          <p:nvPr/>
        </p:nvSpPr>
        <p:spPr>
          <a:xfrm>
            <a:off x="711150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8" name="Shape 20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29" name="Text 21"/>
          <p:cNvSpPr/>
          <p:nvPr/>
        </p:nvSpPr>
        <p:spPr>
          <a:xfrm>
            <a:off x="142230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1" name="Text 23"/>
          <p:cNvSpPr/>
          <p:nvPr/>
        </p:nvSpPr>
        <p:spPr>
          <a:xfrm>
            <a:off x="213345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Shape 24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/>
        </p:spPr>
        <p:txBody>
          <a:bodyPr/>
          <a:p/>
        </p:txBody>
      </p:sp>
      <p:sp>
        <p:nvSpPr>
          <p:cNvPr id="33" name="Text 25"/>
          <p:cNvSpPr/>
          <p:nvPr/>
        </p:nvSpPr>
        <p:spPr>
          <a:xfrm>
            <a:off x="284460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0B2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D3DCE4"/>
          </a:solidFill>
          <a:ln/>
        </p:spPr>
        <p:txBody>
          <a:bodyPr/>
          <a:p/>
        </p:txBody>
      </p:sp>
      <p:sp>
        <p:nvSpPr>
          <p:cNvPr id="35" name="Text 27"/>
          <p:cNvSpPr/>
          <p:nvPr/>
        </p:nvSpPr>
        <p:spPr>
          <a:xfrm>
            <a:off x="355575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36" name="Text 28"/>
          <p:cNvSpPr/>
          <p:nvPr/>
        </p:nvSpPr>
        <p:spPr>
          <a:xfrm>
            <a:off x="4393902" y="330132"/>
            <a:ext cx="660102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7A88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15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rkened Sentinel-2 image of the tanks around Mahakanadarawa">    </p:cNvPr>
          <p:cNvPicPr>
            <a:picLocks noChangeAspect="1"/>
          </p:cNvPicPr>
          <p:nvPr/>
        </p:nvPicPr>
        <p:blipFill>
          <a:blip r:embed="rId1"/>
          <a:srcRect l="0" r="0" t="60" b="6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2230">
                  <a:alpha val="72000"/>
                </a:srgbClr>
              </a:gs>
              <a:gs pos="55000">
                <a:srgbClr val="0B2230">
                  <a:alpha val="50000"/>
                </a:srgbClr>
              </a:gs>
              <a:gs pos="100000">
                <a:srgbClr val="0B2230">
                  <a:alpha val="2000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711150" y="863532"/>
            <a:ext cx="1109279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spc="-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of Action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11150" y="1715653"/>
            <a:ext cx="266650" cy="266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80951" y="1635621"/>
            <a:ext cx="3008630" cy="452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Oct-Nov 2026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4305102" y="1658522"/>
            <a:ext cx="7391020" cy="406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 and talk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11150" y="2320144"/>
            <a:ext cx="266650" cy="266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180951" y="2240111"/>
            <a:ext cx="3008630" cy="452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Dec 2026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305102" y="2263012"/>
            <a:ext cx="7391020" cy="406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Study area confirmed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711150" y="2924634"/>
            <a:ext cx="266650" cy="266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180951" y="2844602"/>
            <a:ext cx="3008630" cy="452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Jan-Apr 2027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305102" y="2867502"/>
            <a:ext cx="7391020" cy="406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models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711150" y="3529124"/>
            <a:ext cx="266650" cy="266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80951" y="3449092"/>
            <a:ext cx="3008630" cy="452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Mar-May 2027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305102" y="3471993"/>
            <a:ext cx="7391020" cy="406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dashboard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711150" y="4133614"/>
            <a:ext cx="266650" cy="266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180951" y="4053582"/>
            <a:ext cx="3008630" cy="452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Jun 2027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4305102" y="4076483"/>
            <a:ext cx="7391020" cy="406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Thesis and paper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831784" y="1845134"/>
            <a:ext cx="25383" cy="2419284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711150" y="5633889"/>
            <a:ext cx="11092790" cy="6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4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you. Questions?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3632250" y="6536692"/>
            <a:ext cx="7848600" cy="2070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C9D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view, darkened. Sentinel-2, 28 February 2026. Contains modified Copernicus Sentinel data 2026.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11150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11150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42230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42230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133451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2133451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84460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284460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555752" y="228532"/>
            <a:ext cx="635000" cy="5076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3555752" y="330064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4393902" y="330132"/>
            <a:ext cx="660102" cy="2386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AEBB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15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OT Tank Water Tracker: Proposal Presentation (Group 6, JARVIS)">
  <a:themeElements>
    <a:clrScheme name="SWOT Tank Water Tracker: Proposal Presentation (Group 6, JARVIS)">
      <a:dk1>
        <a:srgbClr val="0B2230"/>
      </a:dk1>
      <a:lt1>
        <a:srgbClr val="FFFFFF"/>
      </a:lt1>
      <a:dk2>
        <a:srgbClr val="485964"/>
      </a:dk2>
      <a:lt2>
        <a:srgbClr val="E7E9EA"/>
      </a:lt2>
      <a:accent1>
        <a:srgbClr val="EB6834"/>
      </a:accent1>
      <a:accent2>
        <a:srgbClr val="2A78D6"/>
      </a:accent2>
      <a:accent3>
        <a:srgbClr val="1BAF7A"/>
      </a:accent3>
      <a:accent4>
        <a:srgbClr val="9EC3EA"/>
      </a:accent4>
      <a:accent5>
        <a:srgbClr val="4A8EDB"/>
      </a:accent5>
      <a:accent6>
        <a:srgbClr val="0F4C9A"/>
      </a:accent6>
      <a:hlink>
        <a:srgbClr val="0563C1"/>
      </a:hlink>
      <a:folHlink>
        <a:srgbClr val="954F72"/>
      </a:folHlink>
    </a:clrScheme>
    <a:fontScheme name="SWOT Tank Water Tracker: Proposal Presentation (Group 6, JARVIS)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Tank Water Tracker: Proposal Presentation (Group 6, JARVIS)</dc:title>
  <dc:subject/>
  <dc:creator/>
  <cp:lastModifiedBy/>
  <cp:revision>1</cp:revision>
  <dcterms:created xsi:type="dcterms:W3CDTF">2026-10-30T12:34:47Z</dcterms:created>
  <dcterms:modified xsi:type="dcterms:W3CDTF">2026-10-30T12:34:47Z</dcterms:modified>
</cp:coreProperties>
</file>