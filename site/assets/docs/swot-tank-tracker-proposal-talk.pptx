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88fc2d6-cbd3-4b55-58b7-55edff529e50}">
          <p14:sldIdLst>
            <p14:sldId id="256"/>
            <p14:sldId id="257"/>
            <p14:sldId id="258"/>
            <p14:sldId id="259"/>
          </p14:sldIdLst>
        </p14:section>
        <p14:section name="The satellites" id="{a4141ab3-8702-44c2-6181-ce1ae6fe5026}">
          <p14:sldIdLst>
            <p14:sldId id="260"/>
            <p14:sldId id="261"/>
            <p14:sldId id="262"/>
          </p14:sldIdLst>
        </p14:section>
        <p14:section name="Study and method" id="{f9512384-1a5d-b312-ba0e-408d62a10b59}">
          <p14:sldIdLst>
            <p14:sldId id="263"/>
            <p14:sldId id="264"/>
            <p14:sldId id="265"/>
          </p14:sldIdLst>
        </p14:section>
        <p14:section name="Evidence" id="{6b4fb2f1-6436-aa0a-ec2f-fe4421ebd07e}">
          <p14:sldIdLst>
            <p14:sldId id="266"/>
            <p14:sldId id="267"/>
            <p14:sldId id="268"/>
          </p14:sldIdLst>
        </p14:section>
        <p14:section name="Plan" id="{02f4f53c-d486-98d3-4d93-022511087548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Hurulu Wewa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Hurulu Wewa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1.64</c:v>
                </c:pt>
                <c:pt idx="11">
                  <c:v>2.74</c:v>
                </c:pt>
                <c:pt idx="12">
                  <c:v>4.73</c:v>
                </c:pt>
                <c:pt idx="13">
                  <c:v>4.81</c:v>
                </c:pt>
                <c:pt idx="14">
                  <c:v>4.25</c:v>
                </c:pt>
                <c:pt idx="15">
                  <c:v>3.09</c:v>
                </c:pt>
                <c:pt idx="16">
                  <c:v>2.43</c:v>
                </c:pt>
                <c:pt idx="17">
                  <c:v>1.73</c:v>
                </c:pt>
                <c:pt idx="18">
                  <c:v>0.52</c:v>
                </c:pt>
                <c:pt idx="19">
                  <c:v>0.25</c:v>
                </c:pt>
                <c:pt idx="20">
                  <c:v>0.03</c:v>
                </c:pt>
                <c:pt idx="21">
                  <c:v>0.15</c:v>
                </c:pt>
                <c:pt idx="22">
                  <c:v/>
                </c:pt>
                <c:pt idx="23">
                  <c:v>2.83</c:v>
                </c:pt>
                <c:pt idx="24">
                  <c:v>4.84</c:v>
                </c:pt>
                <c:pt idx="25">
                  <c:v>4.72</c:v>
                </c:pt>
                <c:pt idx="26">
                  <c:v>4.92</c:v>
                </c:pt>
                <c:pt idx="27">
                  <c:v>4.02</c:v>
                </c:pt>
                <c:pt idx="28">
                  <c:v>4.5</c:v>
                </c:pt>
                <c:pt idx="29">
                  <c:v>3.36</c:v>
                </c:pt>
                <c:pt idx="30">
                  <c:v>1.82</c:v>
                </c:pt>
                <c:pt idx="31">
                  <c:v>1.31</c:v>
                </c:pt>
                <c:pt idx="32">
                  <c:v>1.23</c:v>
                </c:pt>
                <c:pt idx="33">
                  <c:v>1.23</c:v>
                </c:pt>
                <c:pt idx="34">
                  <c:v>0.4</c:v>
                </c:pt>
                <c:pt idx="35">
                  <c:v>5</c:v>
                </c:pt>
                <c:pt idx="36">
                  <c:v>4.72</c:v>
                </c:pt>
                <c:pt idx="37">
                  <c:v>4.3</c:v>
                </c:pt>
                <c:pt idx="38">
                  <c:v>4.42</c:v>
                </c:pt>
                <c:pt idx="39">
                  <c:v>3.32</c:v>
                </c:pt>
                <c:pt idx="40">
                  <c:v>3.67</c:v>
                </c:pt>
                <c:pt idx="41">
                  <c:v>2.26</c:v>
                </c:pt>
                <c:pt idx="42">
                  <c:v>0.84</c:v>
                </c:pt>
                <c:pt idx="43">
                  <c:v>0.16</c:v>
                </c:pt>
                <c:pt idx="44">
                  <c:v>0.06</c:v>
                </c:pt>
                <c:pt idx="45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6656F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6656F"/>
                    </a:solidFill>
                    <a:latin typeface="Arial"/>
                  </a:rPr>
                  <a:t>metres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Mahakanadarawa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Mahakanadarawa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0.69</c:v>
                </c:pt>
                <c:pt idx="10">
                  <c:v>3.95</c:v>
                </c:pt>
                <c:pt idx="11">
                  <c:v/>
                </c:pt>
                <c:pt idx="12">
                  <c:v>4.39</c:v>
                </c:pt>
                <c:pt idx="13">
                  <c:v>3.93</c:v>
                </c:pt>
                <c:pt idx="14">
                  <c:v>3.26</c:v>
                </c:pt>
                <c:pt idx="15">
                  <c:v>2.41</c:v>
                </c:pt>
                <c:pt idx="16">
                  <c:v>2.07</c:v>
                </c:pt>
                <c:pt idx="17">
                  <c:v>1.72</c:v>
                </c:pt>
                <c:pt idx="18">
                  <c:v>0.8</c:v>
                </c:pt>
                <c:pt idx="19">
                  <c:v>0.57</c:v>
                </c:pt>
                <c:pt idx="20">
                  <c:v>0.45</c:v>
                </c:pt>
                <c:pt idx="21">
                  <c:v>0.31</c:v>
                </c:pt>
                <c:pt idx="22">
                  <c:v/>
                </c:pt>
                <c:pt idx="23">
                  <c:v>3.74</c:v>
                </c:pt>
                <c:pt idx="24">
                  <c:v>4.35</c:v>
                </c:pt>
                <c:pt idx="25">
                  <c:v>4.34</c:v>
                </c:pt>
                <c:pt idx="26">
                  <c:v>4.38</c:v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2.7</c:v>
                </c:pt>
                <c:pt idx="31">
                  <c:v>2.1</c:v>
                </c:pt>
                <c:pt idx="32">
                  <c:v>1.88</c:v>
                </c:pt>
                <c:pt idx="33">
                  <c:v>0.4</c:v>
                </c:pt>
                <c:pt idx="34">
                  <c:v>0</c:v>
                </c:pt>
                <c:pt idx="35">
                  <c:v>4.2</c:v>
                </c:pt>
                <c:pt idx="36">
                  <c:v>4.09</c:v>
                </c:pt>
                <c:pt idx="37">
                  <c:v>4.2</c:v>
                </c:pt>
                <c:pt idx="38">
                  <c:v>4.11</c:v>
                </c:pt>
                <c:pt idx="39">
                  <c:v>3</c:v>
                </c:pt>
                <c:pt idx="40">
                  <c:v>3.46</c:v>
                </c:pt>
                <c:pt idx="41">
                  <c:v>2.97</c:v>
                </c:pt>
                <c:pt idx="42">
                  <c:v>2.34</c:v>
                </c:pt>
                <c:pt idx="43">
                  <c:v>1.99</c:v>
                </c:pt>
                <c:pt idx="44">
                  <c:v>1.77</c:v>
                </c:pt>
                <c:pt idx="45">
                  <c:v>1.59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Manankattiya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Manankattiya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3.43</c:v>
                </c:pt>
                <c:pt idx="11">
                  <c:v>3.45</c:v>
                </c:pt>
                <c:pt idx="12">
                  <c:v>3.45</c:v>
                </c:pt>
                <c:pt idx="13">
                  <c:v>3.31</c:v>
                </c:pt>
                <c:pt idx="14">
                  <c:v>2.84</c:v>
                </c:pt>
                <c:pt idx="15">
                  <c:v>2.27</c:v>
                </c:pt>
                <c:pt idx="16">
                  <c:v>1.86</c:v>
                </c:pt>
                <c:pt idx="17">
                  <c:v>1.38</c:v>
                </c:pt>
                <c:pt idx="18">
                  <c:v>0.84</c:v>
                </c:pt>
                <c:pt idx="19">
                  <c:v>0.8</c:v>
                </c:pt>
                <c:pt idx="20">
                  <c:v>0.89</c:v>
                </c:pt>
                <c:pt idx="21">
                  <c:v>0.95</c:v>
                </c:pt>
                <c:pt idx="22">
                  <c:v>1.37</c:v>
                </c:pt>
                <c:pt idx="23">
                  <c:v/>
                </c:pt>
                <c:pt idx="24">
                  <c:v>3.66</c:v>
                </c:pt>
                <c:pt idx="25">
                  <c:v>3.48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>2.67</c:v>
                </c:pt>
                <c:pt idx="30">
                  <c:v>2.21</c:v>
                </c:pt>
                <c:pt idx="31">
                  <c:v>1.85</c:v>
                </c:pt>
                <c:pt idx="32">
                  <c:v>1.72</c:v>
                </c:pt>
                <c:pt idx="33">
                  <c:v>1.5</c:v>
                </c:pt>
                <c:pt idx="34">
                  <c:v>1.17</c:v>
                </c:pt>
                <c:pt idx="35">
                  <c:v>3.25</c:v>
                </c:pt>
                <c:pt idx="36">
                  <c:v>3.09</c:v>
                </c:pt>
                <c:pt idx="37">
                  <c:v>2.76</c:v>
                </c:pt>
                <c:pt idx="38">
                  <c:v>2.63</c:v>
                </c:pt>
                <c:pt idx="39">
                  <c:v>1.93</c:v>
                </c:pt>
                <c:pt idx="40">
                  <c:v>1.89</c:v>
                </c:pt>
                <c:pt idx="41">
                  <c:v>1</c:v>
                </c:pt>
                <c:pt idx="42">
                  <c:v>0.59</c:v>
                </c:pt>
                <c:pt idx="43">
                  <c:v>0</c:v>
                </c:pt>
                <c:pt idx="44">
                  <c:v/>
                </c:pt>
                <c:pt idx="4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Nachchaduwa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Nachchaduwa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</c:v>
                </c:pt>
                <c:pt idx="10">
                  <c:v>2.47</c:v>
                </c:pt>
                <c:pt idx="11">
                  <c:v>2.85</c:v>
                </c:pt>
                <c:pt idx="12">
                  <c:v>2.75</c:v>
                </c:pt>
                <c:pt idx="13">
                  <c:v>2.55</c:v>
                </c:pt>
                <c:pt idx="14">
                  <c:v>2.39</c:v>
                </c:pt>
                <c:pt idx="15">
                  <c:v>1.79</c:v>
                </c:pt>
                <c:pt idx="16">
                  <c:v>1.53</c:v>
                </c:pt>
                <c:pt idx="17">
                  <c:v>1.93</c:v>
                </c:pt>
                <c:pt idx="18">
                  <c:v>1.18</c:v>
                </c:pt>
                <c:pt idx="19">
                  <c:v>1.06</c:v>
                </c:pt>
                <c:pt idx="20">
                  <c:v>1.67</c:v>
                </c:pt>
                <c:pt idx="21">
                  <c:v>1.62</c:v>
                </c:pt>
                <c:pt idx="22">
                  <c:v/>
                </c:pt>
                <c:pt idx="23">
                  <c:v>2.78</c:v>
                </c:pt>
                <c:pt idx="24">
                  <c:v>2.86</c:v>
                </c:pt>
                <c:pt idx="25">
                  <c:v>2.75</c:v>
                </c:pt>
                <c:pt idx="26">
                  <c:v>2.96</c:v>
                </c:pt>
                <c:pt idx="27">
                  <c:v>2.61</c:v>
                </c:pt>
                <c:pt idx="28">
                  <c:v/>
                </c:pt>
                <c:pt idx="29">
                  <c:v>2.25</c:v>
                </c:pt>
                <c:pt idx="30">
                  <c:v>1.44</c:v>
                </c:pt>
                <c:pt idx="31">
                  <c:v>0.84</c:v>
                </c:pt>
                <c:pt idx="32">
                  <c:v>0.78</c:v>
                </c:pt>
                <c:pt idx="33">
                  <c:v/>
                </c:pt>
                <c:pt idx="34">
                  <c:v>1.79</c:v>
                </c:pt>
                <c:pt idx="35">
                  <c:v>2.4</c:v>
                </c:pt>
                <c:pt idx="36">
                  <c:v>2.58</c:v>
                </c:pt>
                <c:pt idx="37">
                  <c:v/>
                </c:pt>
                <c:pt idx="38">
                  <c:v>2.39</c:v>
                </c:pt>
                <c:pt idx="39">
                  <c:v/>
                </c:pt>
                <c:pt idx="40">
                  <c:v>2.6</c:v>
                </c:pt>
                <c:pt idx="41">
                  <c:v>1.81</c:v>
                </c:pt>
                <c:pt idx="42">
                  <c:v>1.25</c:v>
                </c:pt>
                <c:pt idx="43">
                  <c:v>0.15</c:v>
                </c:pt>
                <c:pt idx="44">
                  <c:v>0.08</c:v>
                </c:pt>
                <c:pt idx="45">
                  <c:v>0.38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Nuwara Wewa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Nuwara Wewa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</c:v>
                </c:pt>
                <c:pt idx="10">
                  <c:v>3.99</c:v>
                </c:pt>
                <c:pt idx="11">
                  <c:v>4.28</c:v>
                </c:pt>
                <c:pt idx="12">
                  <c:v>3.72</c:v>
                </c:pt>
                <c:pt idx="13">
                  <c:v>3.64</c:v>
                </c:pt>
                <c:pt idx="14">
                  <c:v>3.04</c:v>
                </c:pt>
                <c:pt idx="15">
                  <c:v>2.43</c:v>
                </c:pt>
                <c:pt idx="16">
                  <c:v/>
                </c:pt>
                <c:pt idx="17">
                  <c:v>2.97</c:v>
                </c:pt>
                <c:pt idx="18">
                  <c:v>2.38</c:v>
                </c:pt>
                <c:pt idx="19">
                  <c:v>1.98</c:v>
                </c:pt>
                <c:pt idx="20">
                  <c:v>1.8</c:v>
                </c:pt>
                <c:pt idx="21">
                  <c:v>1.09</c:v>
                </c:pt>
                <c:pt idx="22">
                  <c:v/>
                </c:pt>
                <c:pt idx="23">
                  <c:v>3.86</c:v>
                </c:pt>
                <c:pt idx="24">
                  <c:v>4.33</c:v>
                </c:pt>
                <c:pt idx="25">
                  <c:v>4.05</c:v>
                </c:pt>
                <c:pt idx="26">
                  <c:v>4.15</c:v>
                </c:pt>
                <c:pt idx="27">
                  <c:v/>
                </c:pt>
                <c:pt idx="28">
                  <c:v>3.95</c:v>
                </c:pt>
                <c:pt idx="29">
                  <c:v>3.38</c:v>
                </c:pt>
                <c:pt idx="30">
                  <c:v>2.99</c:v>
                </c:pt>
                <c:pt idx="31">
                  <c:v>2.4</c:v>
                </c:pt>
                <c:pt idx="32">
                  <c:v>2.12</c:v>
                </c:pt>
                <c:pt idx="33">
                  <c:v/>
                </c:pt>
                <c:pt idx="34">
                  <c:v>2.01</c:v>
                </c:pt>
                <c:pt idx="35">
                  <c:v>4.28</c:v>
                </c:pt>
                <c:pt idx="36">
                  <c:v>3.71</c:v>
                </c:pt>
                <c:pt idx="37">
                  <c:v/>
                </c:pt>
                <c:pt idx="38">
                  <c:v>3.53</c:v>
                </c:pt>
                <c:pt idx="39">
                  <c:v>3.18</c:v>
                </c:pt>
                <c:pt idx="40">
                  <c:v>3.12</c:v>
                </c:pt>
                <c:pt idx="41">
                  <c:v>3.25</c:v>
                </c:pt>
                <c:pt idx="42">
                  <c:v>2.84</c:v>
                </c:pt>
                <c:pt idx="43">
                  <c:v>2.28</c:v>
                </c:pt>
                <c:pt idx="44">
                  <c:v>2.07</c:v>
                </c:pt>
                <c:pt idx="45">
                  <c:v>2.02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67512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5852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SWOT Tank Water Tracker for Sri Lanka  ·  Group 6, JARVIS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SWOT Tank Water Tracker for Sri Lanka  ·  Group 6, JARVIS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mibrechb.github.io/swot-data-explorer/" TargetMode="External"/><Relationship Id="rId2" Type="http://schemas.openxmlformats.org/officeDocument/2006/relationships/hyperlink" Target="https://search.earthdata.nasa.gov/search/granules?p=C3233944983-POCLOUD" TargetMode="External"/><Relationship Id="rId3" Type="http://schemas.openxmlformats.org/officeDocument/2006/relationships/hyperlink" Target="https://podaac.github.io/hydrocron/" TargetMode="External"/><Relationship Id="rId4" Type="http://schemas.openxmlformats.org/officeDocument/2006/relationships/hyperlink" Target="https://browser.dataspace.copernicus.eu/?themeId=DEFAULT-THEME&amp;dateMode=SINGLE&amp;zoom=14&amp;lat=8.3868&amp;lng=80.5471&amp;datasetId=S2_L2A_CDAS&amp;fromTime=2024-03-10T00%3A00%3A00.000Z&amp;toTime=2024-03-10T23%3A59%3A59.999Z&amp;layerId=1_TRUE_COLOR" TargetMode="External"/><Relationship Id="rId5" Type="http://schemas.openxmlformats.org/officeDocument/2006/relationships/hyperlink" Target="https://planetarycomputer.microsoft.com/dataset/sentinel-1-rtc" TargetMode="External"/><Relationship Id="rId6" Type="http://schemas.openxmlformats.org/officeDocument/2006/relationships/hyperlink" Target="https://asf.alaska.edu/nisar/" TargetMode="External"/><Relationship Id="rId7" Type="http://schemas.openxmlformats.org/officeDocument/2006/relationships/hyperlink" Target="https://registry.opendata.aws/jaxa-alos-palsar2-scansar/" TargetMode="External"/><Relationship Id="rId8" Type="http://schemas.openxmlformats.org/officeDocument/2006/relationships/hyperlink" Target="https://doi.org/10.5281/zenodo.11278238" TargetMode="External"/><Relationship Id="rId9" Type="http://schemas.openxmlformats.org/officeDocument/2006/relationships/hyperlink" Target="https://zenodo.org/records/22643338" TargetMode="External"/><Relationship Id="rId10" Type="http://schemas.openxmlformats.org/officeDocument/2006/relationships/hyperlink" Target="https://registry.opendata.aws/copernicus-dem/" TargetMode="External"/><Relationship Id="rId11" Type="http://schemas.openxmlformats.org/officeDocument/2006/relationships/hyperlink" Target="https://docs.google.com/spreadsheets/d/e/2PACX-1vTcSGhi9RESl7CMCl1TQnrKe07Gx5Q696YiSB9jneIHqIP9lifpqSErgI3D5k9KtQXSdW5JpycIIr5e/pubhtml" TargetMode="External"/><Relationship Id="rId12" Type="http://schemas.openxmlformats.org/officeDocument/2006/relationships/hyperlink" Target="https://irrigation.gov.lk/web/index.php?option=com_content&amp;view=article&amp;id=84&amp;Itemid=201&amp;lang=en" TargetMode="External"/><Relationship Id="rId13" Type="http://schemas.openxmlformats.org/officeDocument/2006/relationships/hyperlink" Target="https://services3.arcgis.com/J7ZFXmR8rSmQ3FGf/ArcGIS/rest/services/Scheme_Data_2/FeatureServer/10" TargetMode="External"/><Relationship Id="rId14" Type="http://schemas.openxmlformats.org/officeDocument/2006/relationships/hyperlink" Target="https://www.irrigation.gov.lk/web/images/Scheme-Maps/Anuradhapura/HuruluWewa/Area_Capacity_Kanhindawewa_01_07_2026.pdf" TargetMode="External"/><Relationship Id="rId15" Type="http://schemas.openxmlformats.org/officeDocument/2006/relationships/hyperlink" Target="https://mahaweli.gov.lk/wms.html" TargetMode="External"/><Relationship Id="rId16" Type="http://schemas.openxmlformats.org/officeDocument/2006/relationships/hyperlink" Target="https://gpm.nasa.gov/data/imerg" TargetMode="External"/><Relationship Id="rId17" Type="http://schemas.openxmlformats.org/officeDocument/2006/relationships/hyperlink" Target="https://www.chc.ucsb.edu/data/chirps" TargetMode="External"/><Relationship Id="rId18" Type="http://schemas.openxmlformats.org/officeDocument/2006/relationships/hyperlink" Target="https://cds.climate.copernicus.eu/datasets/reanalysis-era5-single-levels" TargetMode="External"/><Relationship Id="rId19" Type="http://schemas.openxmlformats.org/officeDocument/2006/relationships/hyperlink" Target="https://swot.mehara.work/" TargetMode="External"/><Relationship Id="rId20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ibrechb.github.io/swot-data-explorer/" TargetMode="External"/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4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ntinel-2 satellite view of the tanks around Mahakanadaraw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3716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5"/>
                </a:solidFill>
              </a:rPr>
              <a:t>IS4990 COMPREHENSIVE GROUP PROJECT  ·  PROJECT PROPOSAL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828800"/>
            <a:ext cx="6675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</a:rPr>
              <a:t>SWOT Tank Water Tracker for Sri Lanka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6118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An AI system that estimates how much water each tank holds, using free satellite data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754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Group 6  ·  JARVIS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663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DE"/>
                </a:solidFill>
              </a:rPr>
              <a:t>Supervisors: Dr. Upeksha Ganegoda (IT)  ·  Prof. (Mrs) Thanuja Sandanayake (IDS)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046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DE"/>
                </a:solidFill>
              </a:rPr>
              <a:t>October 2026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6446520"/>
            <a:ext cx="5788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C9D6DE"/>
                </a:solidFill>
              </a:rPr>
              <a:t>Tanks around Mahakanadarawa, Sentinel-2, 28 Feb 2026. Contains modified Copernicus Sentinel data 2026.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Why: dry-zone farming depends on tank water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~23,000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43560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small tanks of 80 ha or less in Sri Lanka, the base of dry-zone farming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057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National Tanks Survey, in Lopane et al., 2025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1576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273405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seasons a year. Before each, farmers plan the crop by the water in the tank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33558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Cultivation meetings at village tanks, Oka et al., 2015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14216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1,160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403250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small tanks damaged by Cyclone Ditwah in November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46542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Department of Agrarian Development, December 2025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983480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Knowing each tank's water helps farmers plan the season, and helps officers share water and prepare for floods.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687568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But today, nobody can say how much water most tanks hold.</a:t>
            </a:r>
            <a:endParaRPr lang="en-US" sz="1600" dirty="0"/>
          </a:p>
        </p:txBody>
      </p:sp>
      <p:pic>
        <p:nvPicPr>
          <p:cNvPr id="14" name="Image 0" descr="Satellite image of the study area with every mapped tank shown in b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1192" y="1371600"/>
            <a:ext cx="4389120" cy="4846320"/>
          </a:xfrm>
          <a:prstGeom prst="rect">
            <a:avLst/>
          </a:prstGeom>
        </p:spPr>
      </p:pic>
      <p:sp>
        <p:nvSpPr>
          <p:cNvPr id="15" name="image caption"/>
          <p:cNvSpPr/>
          <p:nvPr/>
        </p:nvSpPr>
        <p:spPr>
          <a:xfrm>
            <a:off x="7388352" y="5413248"/>
            <a:ext cx="4114800" cy="676656"/>
          </a:xfrm>
          <a:prstGeom prst="roundRect">
            <a:avLst>
              <a:gd name="adj" fmla="val 10811"/>
            </a:avLst>
          </a:prstGeom>
          <a:solidFill>
            <a:srgbClr val="0B2230">
              <a:alpha val="88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16368" y="548640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432 tanks of 6.25 ha or more on this map (blue)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Sentinel-2, 28 Feb 2026 · outlines © OpenStreetMap contributors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The problem we solve</a:t>
            </a:r>
            <a:endParaRPr lang="en-US" sz="3400" dirty="0"/>
          </a:p>
        </p:txBody>
      </p:sp>
      <p:sp>
        <p:nvSpPr>
          <p:cNvPr id="3" name="problem statement"/>
          <p:cNvSpPr/>
          <p:nvPr/>
        </p:nvSpPr>
        <p:spPr>
          <a:xfrm>
            <a:off x="548640" y="1280160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700784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 most Sri Lankan tanks, nobody can say how much water they hold right now, and there is no low-cost way to measure it often.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33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WHY IT IS STILL UNSOLVED</a:t>
            </a:r>
            <a:endParaRPr lang="en-US" sz="1200" dirty="0"/>
          </a:p>
        </p:txBody>
      </p:sp>
      <p:sp>
        <p:nvSpPr>
          <p:cNvPr id="7" name="gap No gauges on village tanks"/>
          <p:cNvSpPr/>
          <p:nvPr/>
        </p:nvSpPr>
        <p:spPr>
          <a:xfrm>
            <a:off x="548640" y="292608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icon FaGaugeHigh"/>
          <p:cNvSpPr/>
          <p:nvPr/>
        </p:nvSpPr>
        <p:spPr>
          <a:xfrm>
            <a:off x="777240" y="32278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" y="3360420"/>
            <a:ext cx="265176" cy="26517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304495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gauges on village tanks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338328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Only 118 reservoirs publish daily water levels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380390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Irrigation Department, Reservoir Status, 25 Oct 2026</a:t>
            </a:r>
            <a:endParaRPr lang="en-US" sz="950" dirty="0"/>
          </a:p>
        </p:txBody>
      </p:sp>
      <p:sp>
        <p:nvSpPr>
          <p:cNvPr id="13" name="gap Maps show area, not volume"/>
          <p:cNvSpPr/>
          <p:nvPr/>
        </p:nvSpPr>
        <p:spPr>
          <a:xfrm>
            <a:off x="6210148" y="292608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icon FaMap"/>
          <p:cNvSpPr/>
          <p:nvPr/>
        </p:nvSpPr>
        <p:spPr>
          <a:xfrm>
            <a:off x="6438748" y="32278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336" y="3360420"/>
            <a:ext cx="265176" cy="26517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170268" y="304495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Maps show area, not volume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170268" y="338328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IFAD maps over 10,650 water bodies, but by area only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7170268" y="380390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IFAD, 2026</a:t>
            </a:r>
            <a:endParaRPr lang="en-US" sz="950" dirty="0"/>
          </a:p>
        </p:txBody>
      </p:sp>
      <p:sp>
        <p:nvSpPr>
          <p:cNvPr id="19" name="gap Clouds and water plants hide the water"/>
          <p:cNvSpPr/>
          <p:nvPr/>
        </p:nvSpPr>
        <p:spPr>
          <a:xfrm>
            <a:off x="548640" y="416052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icon FaCloud"/>
          <p:cNvSpPr/>
          <p:nvPr/>
        </p:nvSpPr>
        <p:spPr>
          <a:xfrm>
            <a:off x="777240" y="446227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" y="4594860"/>
            <a:ext cx="265176" cy="26517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508760" y="427939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Clouds and water plants hide the water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1508760" y="461772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Only 17–22% of Sentinel-2 dates were clear over our tanks; plants cover 3 of our 8 village tanks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1508760" y="503834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Our data check, October 2026</a:t>
            </a:r>
            <a:endParaRPr lang="en-US" sz="950" dirty="0"/>
          </a:p>
        </p:txBody>
      </p:sp>
      <p:sp>
        <p:nvSpPr>
          <p:cNvPr id="25" name="gap SWOT gives height, not volume"/>
          <p:cNvSpPr/>
          <p:nvPr/>
        </p:nvSpPr>
        <p:spPr>
          <a:xfrm>
            <a:off x="6210148" y="416052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icon FaSatellite"/>
          <p:cNvSpPr/>
          <p:nvPr/>
        </p:nvSpPr>
        <p:spPr>
          <a:xfrm>
            <a:off x="6438748" y="446227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336" y="4594860"/>
            <a:ext cx="265176" cy="26517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170268" y="427939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gives height, not volume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170268" y="461772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Height only, and not yet checked on Sri Lankan tanks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503834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NASA and CNES satellite, launched December 2022</a:t>
            </a:r>
            <a:endParaRPr lang="en-US" sz="950" dirty="0"/>
          </a:p>
        </p:txBody>
      </p:sp>
      <p:sp>
        <p:nvSpPr>
          <p:cNvPr id="31" name="our answer"/>
          <p:cNvSpPr/>
          <p:nvPr/>
        </p:nvSpPr>
        <p:spPr>
          <a:xfrm>
            <a:off x="548640" y="5458968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32" name="icon FaDroplet"/>
          <p:cNvSpPr/>
          <p:nvPr/>
        </p:nvSpPr>
        <p:spPr>
          <a:xfrm>
            <a:off x="822960" y="559612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733288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5486400"/>
            <a:ext cx="981425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Our answer: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AI system that turns free satellite data into each tank's storage, in m³ and % full, every 5–12 days, checked against gauges.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For farmer organisations, the Department of Agrarian Development (village tanks) and the Irrigation Department (reservoirs).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SWOT gives the height. We turn it into water</a:t>
            </a:r>
            <a:endParaRPr lang="en-US" sz="3400" dirty="0"/>
          </a:p>
        </p:txBody>
      </p:sp>
      <p:sp>
        <p:nvSpPr>
          <p:cNvPr id="3" name="What SWOT gives"/>
          <p:cNvSpPr/>
          <p:nvPr/>
        </p:nvSpPr>
        <p:spPr>
          <a:xfrm>
            <a:off x="548640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4" name="icon FaSatellite"/>
          <p:cNvSpPr/>
          <p:nvPr/>
        </p:nvSpPr>
        <p:spPr>
          <a:xfrm>
            <a:off x="868680" y="1627632"/>
            <a:ext cx="603504" cy="6035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1778508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733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SWOT gives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87168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water height of each lake, about twice every 21 days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Only for lakes in its prior lake list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Mostly "suspect" readings on small village tanks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volume, and nothing between passes</a:t>
            </a:r>
            <a:endParaRPr lang="en-US" sz="1600" dirty="0"/>
          </a:p>
        </p:txBody>
      </p:sp>
      <p:sp>
        <p:nvSpPr>
          <p:cNvPr id="8" name="What our project adds"/>
          <p:cNvSpPr/>
          <p:nvPr/>
        </p:nvSpPr>
        <p:spPr>
          <a:xfrm>
            <a:off x="6245352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9" name="icon FaDroplet"/>
          <p:cNvSpPr/>
          <p:nvPr/>
        </p:nvSpPr>
        <p:spPr>
          <a:xfrm>
            <a:off x="6565392" y="1627632"/>
            <a:ext cx="603504" cy="6035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268" y="1778508"/>
            <a:ext cx="301752" cy="3017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42632" y="16733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our project adds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611112" y="2487168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Water area from Sentinel-1 and Sentinel-2 by AI, even under cloud and water plants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height–area–volume curve for every tank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Storage in m³ and % full, every 5–12 days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Accuracy checked against Irrigation Department gauges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dashboard for irrigation officers and farmers</a:t>
            </a:r>
            <a:endParaRPr lang="en-US" sz="1600" dirty="0"/>
          </a:p>
        </p:txBody>
      </p:sp>
      <p:sp>
        <p:nvSpPr>
          <p:cNvPr id="13" name="icon FaArrowRight"/>
          <p:cNvSpPr/>
          <p:nvPr/>
        </p:nvSpPr>
        <p:spPr>
          <a:xfrm>
            <a:off x="5820156" y="29718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7316" y="310896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" y="54406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tx2"/>
                </a:solidFill>
              </a:rPr>
              <a:t>SWOT is the ruler. We turn its readings into water in the tank.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SWOT: a satellite that measures water height</a:t>
            </a:r>
            <a:endParaRPr lang="en-US" sz="3400" dirty="0"/>
          </a:p>
        </p:txBody>
      </p:sp>
      <p:pic>
        <p:nvPicPr>
          <p:cNvPr id="3" name="Image 0" descr="Illustration of the SWOT satellite above Ear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309360" cy="354787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19472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6DE"/>
                </a:solidFill>
              </a:rPr>
              <a:t>Illustration: NASA/JPL-Caltech</a:t>
            </a:r>
            <a:endParaRPr lang="en-US" sz="900" dirty="0"/>
          </a:p>
        </p:txBody>
      </p:sp>
      <p:sp>
        <p:nvSpPr>
          <p:cNvPr id="5" name="fact Dec 2022"/>
          <p:cNvSpPr/>
          <p:nvPr/>
        </p:nvSpPr>
        <p:spPr>
          <a:xfrm>
            <a:off x="548640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 2022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launched by NASA and CNES (France)</a:t>
            </a:r>
            <a:endParaRPr lang="en-US" sz="1000" dirty="0"/>
          </a:p>
        </p:txBody>
      </p:sp>
      <p:sp>
        <p:nvSpPr>
          <p:cNvPr id="8" name="fact 120 km"/>
          <p:cNvSpPr/>
          <p:nvPr/>
        </p:nvSpPr>
        <p:spPr>
          <a:xfrm>
            <a:off x="2169871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07031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120 km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307031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wide strip measured on each pass</a:t>
            </a:r>
            <a:endParaRPr lang="en-US" sz="1000" dirty="0"/>
          </a:p>
        </p:txBody>
      </p:sp>
      <p:sp>
        <p:nvSpPr>
          <p:cNvPr id="11" name="fact 21 days"/>
          <p:cNvSpPr/>
          <p:nvPr/>
        </p:nvSpPr>
        <p:spPr>
          <a:xfrm>
            <a:off x="3791102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8262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 days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3928262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until the same pass comes back</a:t>
            </a:r>
            <a:endParaRPr lang="en-US" sz="1000" dirty="0"/>
          </a:p>
        </p:txBody>
      </p:sp>
      <p:sp>
        <p:nvSpPr>
          <p:cNvPr id="14" name="fact 2 passes"/>
          <p:cNvSpPr/>
          <p:nvPr/>
        </p:nvSpPr>
        <p:spPr>
          <a:xfrm>
            <a:off x="5412334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49494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 passes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5549494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see our tanks: 273 and 092</a:t>
            </a:r>
            <a:endParaRPr lang="en-US" sz="1000" dirty="0"/>
          </a:p>
        </p:txBody>
      </p:sp>
      <p:pic>
        <p:nvPicPr>
          <p:cNvPr id="17" name="Image 1" descr="Map of Sri Lanka with the strips of the 7 SWOT passes; passes 273 and 092 cross our study ar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658" y="1280160"/>
            <a:ext cx="3276755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What SWOT sees: one pass, every lake at once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198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lakes measured in a single pass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24912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SWOT pass 273 on 11 Oct 2026, in our 44 × 55 km study area</a:t>
            </a:r>
            <a:endParaRPr lang="en-US" sz="1400" dirty="0"/>
          </a:p>
        </p:txBody>
      </p:sp>
      <p:sp>
        <p:nvSpPr>
          <p:cNvPr id="6" name="icon FaRulerVertical"/>
          <p:cNvSpPr/>
          <p:nvPr/>
        </p:nvSpPr>
        <p:spPr>
          <a:xfrm>
            <a:off x="548640" y="338328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511296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341071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colour is the water height SWOT measured, in metres above sea level.</a:t>
            </a:r>
            <a:endParaRPr lang="en-US" sz="1500" dirty="0"/>
          </a:p>
        </p:txBody>
      </p:sp>
      <p:sp>
        <p:nvSpPr>
          <p:cNvPr id="9" name="icon FaCircleCheck"/>
          <p:cNvSpPr/>
          <p:nvPr/>
        </p:nvSpPr>
        <p:spPr>
          <a:xfrm>
            <a:off x="548640" y="416966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429768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4197096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 5 of our reservoirs were measured on this pass, for example Hurulu Wewa at 127.91 m.</a:t>
            </a:r>
            <a:endParaRPr lang="en-US" sz="1500" dirty="0"/>
          </a:p>
        </p:txBody>
      </p:sp>
      <p:sp>
        <p:nvSpPr>
          <p:cNvPr id="12" name="icon FaEyeSlash"/>
          <p:cNvSpPr/>
          <p:nvPr/>
        </p:nvSpPr>
        <p:spPr>
          <a:xfrm>
            <a:off x="548640" y="49560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0840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498348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SWOT cannot measure the strip right under itself, shown hatched on the map.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9436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Data: NASA/JPL and CNES, SWOT Lake Single-Pass product, version D, from NASA PO.DAAC.</a:t>
            </a:r>
            <a:endParaRPr lang="en-US" sz="1050" dirty="0"/>
          </a:p>
        </p:txBody>
      </p:sp>
      <p:pic>
        <p:nvPicPr>
          <p:cNvPr id="16" name="Image 3" descr="Map of every lake SWOT measured in the study area on 11 October 2026, coloured by water he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2174" y="1188720"/>
            <a:ext cx="3608138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Clouds hide the tanks. Radar sees through them</a:t>
            </a:r>
            <a:endParaRPr lang="en-US" sz="3400" dirty="0"/>
          </a:p>
        </p:txBody>
      </p:sp>
      <p:pic>
        <p:nvPicPr>
          <p:cNvPr id="3" name="Image 0" descr="Sentinel-2, clear day, Hurulu Wewa, 28 Feb 2026 · optical, 10 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520440" cy="37124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Sentinel-2, clear day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28 Feb 2026 · optical, 10 m</a:t>
            </a:r>
            <a:endParaRPr lang="en-US" sz="1200" dirty="0"/>
          </a:p>
        </p:txBody>
      </p:sp>
      <p:pic>
        <p:nvPicPr>
          <p:cNvPr id="6" name="Image 1" descr="Sentinel-2, monsoon cloud, Hurulu Wewa, 30 Nov 2025 · the tank is hid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280160"/>
            <a:ext cx="3520440" cy="3712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34256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Sentinel-2, monsoon cloud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334256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30 Nov 2025 · the tank is hidden</a:t>
            </a:r>
            <a:endParaRPr lang="en-US" sz="1200" dirty="0"/>
          </a:p>
        </p:txBody>
      </p:sp>
      <p:pic>
        <p:nvPicPr>
          <p:cNvPr id="9" name="Image 2" descr="Sentinel-1 radar, Hurulu Wewa, 2 Dec 2025 · water shows d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280160"/>
            <a:ext cx="3520440" cy="3712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119872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Sentinel-1 radar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8119872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2 Dec 2025 · water shows dark</a:t>
            </a:r>
            <a:endParaRPr lang="en-US" sz="1200" dirty="0"/>
          </a:p>
        </p:txBody>
      </p:sp>
      <p:sp>
        <p:nvSpPr>
          <p:cNvPr id="12" name="icon FaCloud"/>
          <p:cNvSpPr/>
          <p:nvPr/>
        </p:nvSpPr>
        <p:spPr>
          <a:xfrm>
            <a:off x="548640" y="5833872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943600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583387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17–22% of Sentinel-2 dates were clear over our test tanks, so radar is a core input.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8138160" y="583387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Contains modified Copernicus Sentinel data 2025–2026.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Study area: 5 reservoirs and 8 village tanks</a:t>
            </a:r>
            <a:endParaRPr lang="en-US" sz="3400" dirty="0"/>
          </a:p>
        </p:txBody>
      </p:sp>
      <p:pic>
        <p:nvPicPr>
          <p:cNvPr id="3" name="Image 0" descr="Study area map east of Anuradhapura with five reservoirs and eight numbered village tan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760720" cy="4785114"/>
          </a:xfrm>
          <a:prstGeom prst="rect">
            <a:avLst/>
          </a:prstGeom>
        </p:spPr>
      </p:pic>
      <p:sp>
        <p:nvSpPr>
          <p:cNvPr id="4" name="icon FaWater"/>
          <p:cNvSpPr/>
          <p:nvPr/>
        </p:nvSpPr>
        <p:spPr>
          <a:xfrm>
            <a:off x="6629400" y="1371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0876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60920" y="1353312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major reservoirs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7360920" y="1719072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Hurulu Wewa, Mahakanadarawa, Manankattiya, Nachchaduwa and Nuwara Wewa, all with daily gauge readings</a:t>
            </a:r>
            <a:endParaRPr lang="en-US" sz="1300" dirty="0"/>
          </a:p>
        </p:txBody>
      </p:sp>
      <p:sp>
        <p:nvSpPr>
          <p:cNvPr id="8" name="icon FaSeedling"/>
          <p:cNvSpPr/>
          <p:nvPr/>
        </p:nvSpPr>
        <p:spPr>
          <a:xfrm>
            <a:off x="6629400" y="2587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72491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60920" y="256946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 village tanks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7360920" y="2935224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0.4–5 km from Mahakanadarawa: 2 open water, 3 mixed and 3 mostly covered by water plants</a:t>
            </a:r>
            <a:endParaRPr lang="en-US" sz="1300" dirty="0"/>
          </a:p>
        </p:txBody>
      </p:sp>
      <p:sp>
        <p:nvSpPr>
          <p:cNvPr id="12" name="icon FaSatellite"/>
          <p:cNvSpPr/>
          <p:nvPr/>
        </p:nvSpPr>
        <p:spPr>
          <a:xfrm>
            <a:off x="6629400" y="380390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3941064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60920" y="378561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Seen by SWOT passes 273 and 092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7360920" y="4151376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All 13 tanks, about twice every 21 days, with 47–90 usable readings each since July 2023</a:t>
            </a:r>
            <a:endParaRPr lang="en-US" sz="1300" dirty="0"/>
          </a:p>
        </p:txBody>
      </p:sp>
      <p:sp>
        <p:nvSpPr>
          <p:cNvPr id="16" name="icon FaMapLocationDot"/>
          <p:cNvSpPr/>
          <p:nvPr/>
        </p:nvSpPr>
        <p:spPr>
          <a:xfrm>
            <a:off x="6629400" y="5020056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515721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360920" y="500176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Why here</a:t>
            </a:r>
            <a:endParaRPr lang="en-US" sz="1700" dirty="0"/>
          </a:p>
        </p:txBody>
      </p:sp>
      <p:sp>
        <p:nvSpPr>
          <p:cNvPr id="19" name="Text 12"/>
          <p:cNvSpPr txBox="1"/>
          <p:nvPr/>
        </p:nvSpPr>
        <p:spPr>
          <a:xfrm>
            <a:off x="7360920" y="5367528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Dry-zone tank cascades (ellanga), flat land, and official gauges to check against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How it works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Three models in one chain, one per member: A finds the water, B works out how full each tank is, and C looks ahead.</a:t>
            </a:r>
            <a:endParaRPr lang="en-US" sz="1400" dirty="0"/>
          </a:p>
        </p:txBody>
      </p:sp>
      <p:sp>
        <p:nvSpPr>
          <p:cNvPr id="4" name="Sentinel inputs"/>
          <p:cNvSpPr/>
          <p:nvPr/>
        </p:nvSpPr>
        <p:spPr>
          <a:xfrm>
            <a:off x="548640" y="1691640"/>
            <a:ext cx="25146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Sentinel-1 and Sentinel-2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579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Radar and optical images, every 5–12 days</a:t>
            </a:r>
            <a:endParaRPr lang="en-US" sz="1150" dirty="0"/>
          </a:p>
        </p:txBody>
      </p:sp>
      <p:pic>
        <p:nvPicPr>
          <p:cNvPr id="7" name="Image 0" descr="Sentinel-2 view of Hurulu Wew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679192"/>
            <a:ext cx="932688" cy="987552"/>
          </a:xfrm>
          <a:prstGeom prst="rect">
            <a:avLst/>
          </a:prstGeom>
        </p:spPr>
      </p:pic>
      <p:pic>
        <p:nvPicPr>
          <p:cNvPr id="8" name="Image 1" descr="Sentinel-1 radar view of Hurulu Wew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944" y="2679192"/>
            <a:ext cx="932688" cy="987552"/>
          </a:xfrm>
          <a:prstGeom prst="rect">
            <a:avLst/>
          </a:prstGeom>
        </p:spPr>
      </p:pic>
      <p:sp>
        <p:nvSpPr>
          <p:cNvPr id="9" name="arrow"/>
          <p:cNvSpPr/>
          <p:nvPr/>
        </p:nvSpPr>
        <p:spPr>
          <a:xfrm>
            <a:off x="3063240" y="2743200"/>
            <a:ext cx="45720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10" name="AI water map"/>
          <p:cNvSpPr/>
          <p:nvPr/>
        </p:nvSpPr>
        <p:spPr>
          <a:xfrm>
            <a:off x="3520440" y="1691640"/>
            <a:ext cx="25146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member A"/>
          <p:cNvSpPr/>
          <p:nvPr/>
        </p:nvSpPr>
        <p:spPr>
          <a:xfrm>
            <a:off x="3703320" y="1819656"/>
            <a:ext cx="329184" cy="32918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133088" y="1828800"/>
            <a:ext cx="1764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water map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703320" y="21579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Open water, water under plants, and land</a:t>
            </a:r>
            <a:endParaRPr lang="en-US" sz="1150" dirty="0"/>
          </a:p>
        </p:txBody>
      </p:sp>
      <p:pic>
        <p:nvPicPr>
          <p:cNvPr id="14" name="Image 2" descr="Water map of Hurulu Wew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1396" y="2679192"/>
            <a:ext cx="932688" cy="987552"/>
          </a:xfrm>
          <a:prstGeom prst="rect">
            <a:avLst/>
          </a:prstGeom>
        </p:spPr>
      </p:pic>
      <p:sp>
        <p:nvSpPr>
          <p:cNvPr id="15" name="SWOT heights"/>
          <p:cNvSpPr/>
          <p:nvPr/>
        </p:nvSpPr>
        <p:spPr>
          <a:xfrm>
            <a:off x="548640" y="4114800"/>
            <a:ext cx="25146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icon FaSatellite"/>
          <p:cNvSpPr/>
          <p:nvPr/>
        </p:nvSpPr>
        <p:spPr>
          <a:xfrm>
            <a:off x="731520" y="4457700"/>
            <a:ext cx="502920" cy="502920"/>
          </a:xfrm>
          <a:prstGeom prst="ellipse">
            <a:avLst/>
          </a:prstGeom>
          <a:solidFill>
            <a:srgbClr val="12384D"/>
          </a:solidFill>
          <a:ln w="12700">
            <a:solidFill>
              <a:srgbClr val="12384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583430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17320" y="4261104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heights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417320" y="45902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A height about twice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every 21 days</a:t>
            </a:r>
            <a:endParaRPr lang="en-US" sz="1150" dirty="0"/>
          </a:p>
        </p:txBody>
      </p:sp>
      <p:sp>
        <p:nvSpPr>
          <p:cNvPr id="20" name="arrow"/>
          <p:cNvSpPr/>
          <p:nvPr/>
        </p:nvSpPr>
        <p:spPr>
          <a:xfrm>
            <a:off x="3063240" y="4709160"/>
            <a:ext cx="45720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1" name="Trust screen"/>
          <p:cNvSpPr/>
          <p:nvPr/>
        </p:nvSpPr>
        <p:spPr>
          <a:xfrm>
            <a:off x="3520440" y="4114800"/>
            <a:ext cx="25146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member B"/>
          <p:cNvSpPr/>
          <p:nvPr/>
        </p:nvSpPr>
        <p:spPr>
          <a:xfrm>
            <a:off x="3703320" y="4242816"/>
            <a:ext cx="329184" cy="329184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133088" y="4251960"/>
            <a:ext cx="1764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Trust screen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703320" y="460857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Keeps the good “suspect” readings and drops the bad ones</a:t>
            </a:r>
            <a:endParaRPr lang="en-US" sz="1150" dirty="0"/>
          </a:p>
        </p:txBody>
      </p:sp>
      <p:sp>
        <p:nvSpPr>
          <p:cNvPr id="25" name="arrow"/>
          <p:cNvSpPr/>
          <p:nvPr/>
        </p:nvSpPr>
        <p:spPr>
          <a:xfrm>
            <a:off x="6035040" y="2743200"/>
            <a:ext cx="45720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6" name="arrow"/>
          <p:cNvSpPr/>
          <p:nvPr/>
        </p:nvSpPr>
        <p:spPr>
          <a:xfrm>
            <a:off x="6035040" y="4709160"/>
            <a:ext cx="45720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7" name="Storage model"/>
          <p:cNvSpPr/>
          <p:nvPr/>
        </p:nvSpPr>
        <p:spPr>
          <a:xfrm>
            <a:off x="6492240" y="2286000"/>
            <a:ext cx="2468880" cy="2743200"/>
          </a:xfrm>
          <a:prstGeom prst="roundRect">
            <a:avLst>
              <a:gd name="adj" fmla="val 4444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28" name="member B"/>
          <p:cNvSpPr/>
          <p:nvPr/>
        </p:nvSpPr>
        <p:spPr>
          <a:xfrm>
            <a:off x="6675120" y="2450592"/>
            <a:ext cx="329184" cy="329184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7104888" y="245973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Storage model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6675120" y="3017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6DE"/>
                </a:solidFill>
              </a:rPr>
              <a:t>height + water area</a:t>
            </a:r>
            <a:endParaRPr lang="en-US" sz="1500" dirty="0"/>
          </a:p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→ % full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6675120" y="39776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6DE"/>
                </a:solidFill>
              </a:rPr>
              <a:t>Trained on about 100 gauged reservoirs, so it also works for tanks with no records</a:t>
            </a:r>
            <a:endParaRPr lang="en-US" sz="1150" dirty="0"/>
          </a:p>
        </p:txBody>
      </p:sp>
      <p:sp>
        <p:nvSpPr>
          <p:cNvPr id="32" name="arrow"/>
          <p:cNvSpPr/>
          <p:nvPr/>
        </p:nvSpPr>
        <p:spPr>
          <a:xfrm>
            <a:off x="8961120" y="2743200"/>
            <a:ext cx="45720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33" name="Storage"/>
          <p:cNvSpPr/>
          <p:nvPr/>
        </p:nvSpPr>
        <p:spPr>
          <a:xfrm>
            <a:off x="9418320" y="1691640"/>
            <a:ext cx="2224735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9601200" y="18288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Storage every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5–12 days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9601200" y="25603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% full for every tank,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after each new picture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or SWOT pass</a:t>
            </a:r>
            <a:endParaRPr lang="en-US" sz="1150" dirty="0"/>
          </a:p>
        </p:txBody>
      </p:sp>
      <p:sp>
        <p:nvSpPr>
          <p:cNvPr id="36" name="arrow"/>
          <p:cNvSpPr/>
          <p:nvPr/>
        </p:nvSpPr>
        <p:spPr>
          <a:xfrm>
            <a:off x="10530688" y="3474720"/>
            <a:ext cx="0" cy="32004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37" name="Forecast"/>
          <p:cNvSpPr/>
          <p:nvPr/>
        </p:nvSpPr>
        <p:spPr>
          <a:xfrm>
            <a:off x="9418320" y="3794760"/>
            <a:ext cx="2224735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8" name="member C"/>
          <p:cNvSpPr/>
          <p:nvPr/>
        </p:nvSpPr>
        <p:spPr>
          <a:xfrm>
            <a:off x="9601200" y="3922776"/>
            <a:ext cx="329184" cy="329184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1300" dirty="0"/>
          </a:p>
        </p:txBody>
      </p:sp>
      <p:sp>
        <p:nvSpPr>
          <p:cNvPr id="39" name="Text 33"/>
          <p:cNvSpPr txBox="1"/>
          <p:nvPr/>
        </p:nvSpPr>
        <p:spPr>
          <a:xfrm>
            <a:off x="10030968" y="3931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Forecast</a:t>
            </a:r>
            <a:endParaRPr lang="en-US" sz="1500" dirty="0"/>
          </a:p>
        </p:txBody>
      </p:sp>
      <p:sp>
        <p:nvSpPr>
          <p:cNvPr id="40" name="Text 34"/>
          <p:cNvSpPr txBox="1"/>
          <p:nvPr/>
        </p:nvSpPr>
        <p:spPr>
          <a:xfrm>
            <a:off x="9601200" y="4315968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2–4 weeks ahead, from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rain and evaporation,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shown on a dashboard</a:t>
            </a:r>
            <a:endParaRPr lang="en-US" sz="1150" dirty="0"/>
          </a:p>
        </p:txBody>
      </p:sp>
      <p:sp>
        <p:nvSpPr>
          <p:cNvPr id="41" name="arrow"/>
          <p:cNvSpPr/>
          <p:nvPr/>
        </p:nvSpPr>
        <p:spPr>
          <a:xfrm>
            <a:off x="7726680" y="5029200"/>
            <a:ext cx="0" cy="54864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42" name="arrow"/>
          <p:cNvSpPr/>
          <p:nvPr/>
        </p:nvSpPr>
        <p:spPr>
          <a:xfrm>
            <a:off x="10530688" y="5303520"/>
            <a:ext cx="0" cy="27432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43" name="Validation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</p:spPr>
      </p:sp>
      <p:sp>
        <p:nvSpPr>
          <p:cNvPr id="44" name="icon FaCheck"/>
          <p:cNvSpPr/>
          <p:nvPr/>
        </p:nvSpPr>
        <p:spPr>
          <a:xfrm>
            <a:off x="731520" y="5669280"/>
            <a:ext cx="502920" cy="502920"/>
          </a:xfrm>
          <a:prstGeom prst="ellipse">
            <a:avLst/>
          </a:prstGeom>
          <a:solidFill>
            <a:srgbClr val="12384D"/>
          </a:solidFill>
          <a:ln w="12700">
            <a:solidFill>
              <a:srgbClr val="12384D"/>
            </a:solidFill>
            <a:prstDash val="solid"/>
          </a:ln>
        </p:spPr>
      </p:sp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5795010"/>
            <a:ext cx="251460" cy="251460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1417320" y="5577840"/>
            <a:ext cx="10042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Checked against the daily gauges at the 5 big reservoirs and Kanhindawewa's drone survey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Our method in three pictures: Hurulu Wewa</a:t>
            </a:r>
            <a:endParaRPr lang="en-US" sz="3400" dirty="0"/>
          </a:p>
        </p:txBody>
      </p:sp>
      <p:pic>
        <p:nvPicPr>
          <p:cNvPr id="3" name="Image 0" descr="Hurulu Wewa low, Sentinel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520440" cy="3712464"/>
          </a:xfrm>
          <a:prstGeom prst="rect">
            <a:avLst/>
          </a:prstGeom>
        </p:spPr>
      </p:pic>
      <p:sp>
        <p:nvSpPr>
          <p:cNvPr id="4" name="label Low"/>
          <p:cNvSpPr/>
          <p:nvPr/>
        </p:nvSpPr>
        <p:spPr>
          <a:xfrm>
            <a:off x="685800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Low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127.59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6.1 km² of water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29 Jul 2023 · SWOT 30 Jul 2023</a:t>
            </a:r>
            <a:endParaRPr lang="en-US" sz="1050" dirty="0"/>
          </a:p>
        </p:txBody>
      </p:sp>
      <p:pic>
        <p:nvPicPr>
          <p:cNvPr id="9" name="Image 1" descr="Hurulu Wewa half full, Sentinel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280160"/>
            <a:ext cx="3520440" cy="3712464"/>
          </a:xfrm>
          <a:prstGeom prst="rect">
            <a:avLst/>
          </a:prstGeom>
        </p:spPr>
      </p:pic>
      <p:sp>
        <p:nvSpPr>
          <p:cNvPr id="10" name="label Half full"/>
          <p:cNvSpPr/>
          <p:nvPr/>
        </p:nvSpPr>
        <p:spPr>
          <a:xfrm>
            <a:off x="4471416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71416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Half full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334256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129.50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334256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8.3 km² of water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334256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and SWOT, 30 Jul 2025</a:t>
            </a:r>
            <a:endParaRPr lang="en-US" sz="1050" dirty="0"/>
          </a:p>
        </p:txBody>
      </p:sp>
      <p:pic>
        <p:nvPicPr>
          <p:cNvPr id="15" name="Image 2" descr="Hurulu Wewa full, Sentinel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280160"/>
            <a:ext cx="3520440" cy="3712464"/>
          </a:xfrm>
          <a:prstGeom prst="rect">
            <a:avLst/>
          </a:prstGeom>
        </p:spPr>
      </p:pic>
      <p:sp>
        <p:nvSpPr>
          <p:cNvPr id="16" name="label Full"/>
          <p:cNvSpPr/>
          <p:nvPr/>
        </p:nvSpPr>
        <p:spPr>
          <a:xfrm>
            <a:off x="8257032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57032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Full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119872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132.35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119872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10.8 km² of water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119872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28 Feb 2026 · SWOT 10 Mar 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Three years of SWOT water levels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Monthly average of best-quality readings, in metres above each reservoir's lowest month.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The sharp rise at the end of 2025 is Cyclone Ditwah.</a:t>
            </a:r>
            <a:endParaRPr lang="en-US" sz="1400" dirty="0"/>
          </a:p>
        </p:txBody>
      </p:sp>
      <p:graphicFrame>
        <p:nvGraphicFramePr>
          <p:cNvPr id="4" name="chart Hurulu Wewa" descr=""/>
          <p:cNvGraphicFramePr/>
          <p:nvPr/>
        </p:nvGraphicFramePr>
        <p:xfrm>
          <a:off x="548640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71 best-quality readings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5.0 m</a:t>
            </a:r>
            <a:endParaRPr lang="en-US" sz="1150" dirty="0"/>
          </a:p>
        </p:txBody>
      </p:sp>
      <p:graphicFrame>
        <p:nvGraphicFramePr>
          <p:cNvPr id="7" name="chart Mahakanadarawa" descr=""/>
          <p:cNvGraphicFramePr/>
          <p:nvPr/>
        </p:nvGraphicFramePr>
        <p:xfrm>
          <a:off x="2796235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796235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63 best-quality readings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2796235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4.4 m</a:t>
            </a:r>
            <a:endParaRPr lang="en-US" sz="1150" dirty="0"/>
          </a:p>
        </p:txBody>
      </p:sp>
      <p:graphicFrame>
        <p:nvGraphicFramePr>
          <p:cNvPr id="10" name="chart Manankattiya" descr=""/>
          <p:cNvGraphicFramePr/>
          <p:nvPr/>
        </p:nvGraphicFramePr>
        <p:xfrm>
          <a:off x="5043830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04383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57 best-quality readings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5043830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3.7 m</a:t>
            </a:r>
            <a:endParaRPr lang="en-US" sz="1150" dirty="0"/>
          </a:p>
        </p:txBody>
      </p:sp>
      <p:graphicFrame>
        <p:nvGraphicFramePr>
          <p:cNvPr id="13" name="chart Nachchaduwa" descr=""/>
          <p:cNvGraphicFramePr/>
          <p:nvPr/>
        </p:nvGraphicFramePr>
        <p:xfrm>
          <a:off x="7291426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7291426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55 best-quality readings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7291426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3.0 m</a:t>
            </a:r>
            <a:endParaRPr lang="en-US" sz="1150" dirty="0"/>
          </a:p>
        </p:txBody>
      </p:sp>
      <p:graphicFrame>
        <p:nvGraphicFramePr>
          <p:cNvPr id="16" name="chart Nuwara Wewa" descr=""/>
          <p:cNvGraphicFramePr/>
          <p:nvPr/>
        </p:nvGraphicFramePr>
        <p:xfrm>
          <a:off x="9539021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7" name="Text 10"/>
          <p:cNvSpPr txBox="1"/>
          <p:nvPr/>
        </p:nvSpPr>
        <p:spPr>
          <a:xfrm>
            <a:off x="9539021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 best-quality readings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9539021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4.3 m</a:t>
            </a:r>
            <a:endParaRPr lang="en-US" sz="1150" dirty="0"/>
          </a:p>
        </p:txBody>
      </p:sp>
      <p:sp>
        <p:nvSpPr>
          <p:cNvPr id="19" name="Text 12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Source: NASA PO.DAAC Hydrocron, SWOT lake product version D, July 2023 to October 2026. Gaps are months without a best-quality reading.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We tested the data before proposing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Five quick checks in October 2026, using the real SWOT, Sentinel-2 and gauge data.</a:t>
            </a:r>
            <a:endParaRPr lang="en-US" sz="1400" dirty="0"/>
          </a:p>
        </p:txBody>
      </p:sp>
      <p:sp>
        <p:nvSpPr>
          <p:cNvPr id="4" name="check 1 · LAKE IDS"/>
          <p:cNvSpPr/>
          <p:nvPr/>
        </p:nvSpPr>
        <p:spPr>
          <a:xfrm>
            <a:off x="548640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1 · LAKE IDS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86%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of Irrigation Department tanks in our area have a SWOT lake ID (43 of 50); 58% of all mapped tanks</a:t>
            </a:r>
            <a:endParaRPr lang="en-US" sz="1250" dirty="0"/>
          </a:p>
        </p:txBody>
      </p:sp>
      <p:sp>
        <p:nvSpPr>
          <p:cNvPr id="8" name="status RISK"/>
          <p:cNvSpPr/>
          <p:nvPr/>
        </p:nvSpPr>
        <p:spPr>
          <a:xfrm>
            <a:off x="731520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0704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11" name="check 2 · HEIGHTS"/>
          <p:cNvSpPr/>
          <p:nvPr/>
        </p:nvSpPr>
        <p:spPr>
          <a:xfrm>
            <a:off x="2796235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79115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2 · HEIGHTS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979115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26,641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979115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SWOT readings on 400 lakes since July 2023; village tanks get mostly "suspect" readings</a:t>
            </a:r>
            <a:endParaRPr lang="en-US" sz="1250" dirty="0"/>
          </a:p>
        </p:txBody>
      </p:sp>
      <p:sp>
        <p:nvSpPr>
          <p:cNvPr id="15" name="status RISK"/>
          <p:cNvSpPr/>
          <p:nvPr/>
        </p:nvSpPr>
        <p:spPr>
          <a:xfrm>
            <a:off x="2979115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0555" y="4480560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308299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18" name="check 3 · GAUGE CHECK"/>
          <p:cNvSpPr/>
          <p:nvPr/>
        </p:nvSpPr>
        <p:spPr>
          <a:xfrm>
            <a:off x="5043830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226710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3 · GAUGE CHECK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5226710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40–64 cm</a:t>
            </a:r>
            <a:endParaRPr lang="en-US" sz="3000" dirty="0"/>
          </a:p>
        </p:txBody>
      </p:sp>
      <p:sp>
        <p:nvSpPr>
          <p:cNvPr id="21" name="Text 17"/>
          <p:cNvSpPr txBox="1"/>
          <p:nvPr/>
        </p:nvSpPr>
        <p:spPr>
          <a:xfrm>
            <a:off x="5226710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 steady gap between SWOT and the gauges at all 5 reservoirs; one fixed correction each</a:t>
            </a:r>
            <a:endParaRPr lang="en-US" sz="1250" dirty="0"/>
          </a:p>
        </p:txBody>
      </p:sp>
      <p:sp>
        <p:nvSpPr>
          <p:cNvPr id="22" name="status PASS"/>
          <p:cNvSpPr/>
          <p:nvPr/>
        </p:nvSpPr>
        <p:spPr>
          <a:xfrm>
            <a:off x="5226710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50" y="4480560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555894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PASS</a:t>
            </a:r>
            <a:endParaRPr lang="en-US" sz="1150" dirty="0"/>
          </a:p>
        </p:txBody>
      </p:sp>
      <p:sp>
        <p:nvSpPr>
          <p:cNvPr id="25" name="check 4 · WATER AREA"/>
          <p:cNvSpPr/>
          <p:nvPr/>
        </p:nvSpPr>
        <p:spPr>
          <a:xfrm>
            <a:off x="7291426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474306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4 · WATER AREA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7474306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17–22%</a:t>
            </a:r>
            <a:endParaRPr lang="en-US" sz="3000" dirty="0"/>
          </a:p>
        </p:txBody>
      </p:sp>
      <p:sp>
        <p:nvSpPr>
          <p:cNvPr id="28" name="Text 23"/>
          <p:cNvSpPr txBox="1"/>
          <p:nvPr/>
        </p:nvSpPr>
        <p:spPr>
          <a:xfrm>
            <a:off x="7474306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of Sentinel-2 dates clear; water plants hide the water in 3 village tanks</a:t>
            </a:r>
            <a:endParaRPr lang="en-US" sz="1250" dirty="0"/>
          </a:p>
        </p:txBody>
      </p:sp>
      <p:sp>
        <p:nvSpPr>
          <p:cNvPr id="29" name="status RISK"/>
          <p:cNvSpPr/>
          <p:nvPr/>
        </p:nvSpPr>
        <p:spPr>
          <a:xfrm>
            <a:off x="7474306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5746" y="4480560"/>
            <a:ext cx="201168" cy="201168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803490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32" name="check 5 · TRAINING DATA"/>
          <p:cNvSpPr/>
          <p:nvPr/>
        </p:nvSpPr>
        <p:spPr>
          <a:xfrm>
            <a:off x="9539021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721901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5 · TRAINING DATA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9721901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000" dirty="0"/>
          </a:p>
        </p:txBody>
      </p:sp>
      <p:sp>
        <p:nvSpPr>
          <p:cNvPr id="35" name="Text 29"/>
          <p:cNvSpPr txBox="1"/>
          <p:nvPr/>
        </p:nvSpPr>
        <p:spPr>
          <a:xfrm>
            <a:off x="9721901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labelled water datasets ready to use: Sen1Floods11 and S1S2‑Water</a:t>
            </a:r>
            <a:endParaRPr lang="en-US" sz="1250" dirty="0"/>
          </a:p>
        </p:txBody>
      </p:sp>
      <p:sp>
        <p:nvSpPr>
          <p:cNvPr id="36" name="status PASS"/>
          <p:cNvSpPr/>
          <p:nvPr/>
        </p:nvSpPr>
        <p:spPr>
          <a:xfrm>
            <a:off x="9721901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3341" y="4480560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0051085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PASS</a:t>
            </a:r>
            <a:endParaRPr lang="en-US" sz="1150" dirty="0"/>
          </a:p>
        </p:txBody>
      </p:sp>
      <p:sp>
        <p:nvSpPr>
          <p:cNvPr id="39" name="verdict"/>
          <p:cNvSpPr/>
          <p:nvPr/>
        </p:nvSpPr>
        <p:spPr>
          <a:xfrm>
            <a:off x="548640" y="5138928"/>
            <a:ext cx="11094415" cy="896112"/>
          </a:xfrm>
          <a:prstGeom prst="roundRect">
            <a:avLst>
              <a:gd name="adj" fmla="val 12245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40" name="icon FaCheck"/>
          <p:cNvSpPr/>
          <p:nvPr/>
        </p:nvSpPr>
        <p:spPr>
          <a:xfrm>
            <a:off x="777240" y="5312664"/>
            <a:ext cx="548640" cy="548640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449824"/>
            <a:ext cx="274320" cy="27432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1554480" y="5193792"/>
            <a:ext cx="990569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Verdict: GO, with changes.  </a:t>
            </a:r>
            <a:pPr indent="0" marL="0">
              <a:buNone/>
            </a:pPr>
            <a:r>
              <a:rPr lang="en-US" sz="1350" dirty="0">
                <a:solidFill>
                  <a:srgbClr val="C9D6DE"/>
                </a:solidFill>
              </a:rPr>
              <a:t>Sentinel-1 radar and a water-plant class became core parts of the plan, and RQ2 now tests SWOT's "suspect" readings.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Why these tanks? We checked all of Sri Lanka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6th of 187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Hurulu Wewa's rank among Sri Lanka's big lakes (1 km² or more), by best-quality SWOT readings</a:t>
            </a:r>
            <a:endParaRPr lang="en-US" sz="1500" dirty="0"/>
          </a:p>
        </p:txBody>
      </p:sp>
      <p:sp>
        <p:nvSpPr>
          <p:cNvPr id="5" name="icon FaRankingStar"/>
          <p:cNvSpPr/>
          <p:nvPr/>
        </p:nvSpPr>
        <p:spPr>
          <a:xfrm>
            <a:off x="548640" y="29443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3063240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90779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All 5 of ours are in the island's top 22, and they are the top 5 in our study area</a:t>
            </a:r>
            <a:endParaRPr lang="en-US" sz="1450" dirty="0"/>
          </a:p>
        </p:txBody>
      </p:sp>
      <p:sp>
        <p:nvSpPr>
          <p:cNvPr id="8" name="icon FaLocationDot"/>
          <p:cNvSpPr/>
          <p:nvPr/>
        </p:nvSpPr>
        <p:spPr>
          <a:xfrm>
            <a:off x="548640" y="367588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79476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363931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The island's top tanks are spread from Puttalam to Hambantota, far from our village tanks</a:t>
            </a:r>
            <a:endParaRPr lang="en-US" sz="1450" dirty="0"/>
          </a:p>
        </p:txBody>
      </p:sp>
      <p:sp>
        <p:nvSpPr>
          <p:cNvPr id="11" name="icon FaSatellite"/>
          <p:cNvSpPr/>
          <p:nvPr/>
        </p:nvSpPr>
        <p:spPr>
          <a:xfrm>
            <a:off x="548640" y="440740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526280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437083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Ours sit next to the 8 village tanks and share the same 2 SWOT passes</a:t>
            </a:r>
            <a:endParaRPr lang="en-US" sz="1450" dirty="0"/>
          </a:p>
        </p:txBody>
      </p:sp>
      <p:sp>
        <p:nvSpPr>
          <p:cNvPr id="14" name="icon FaGaugeHigh"/>
          <p:cNvSpPr/>
          <p:nvPr/>
        </p:nvSpPr>
        <p:spPr>
          <a:xfrm>
            <a:off x="548640" y="51389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5257800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34440" y="510235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All 5 have daily Irrigation Department gauges; 2 of the island's top 5 tanks do not</a:t>
            </a:r>
            <a:endParaRPr lang="en-US" sz="145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943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Best quality: quality flag 0, crossover flag 0–1, dark water 10% or less (Köhn and Nielsen, 2026).</a:t>
            </a:r>
            <a:endParaRPr lang="en-US" sz="1000" dirty="0"/>
          </a:p>
        </p:txBody>
      </p:sp>
      <p:pic>
        <p:nvPicPr>
          <p:cNvPr id="18" name="Image 4" descr="Map of Sri Lanka's 187 big lakes coloured by best-quality SWOT readings, with our five reservoirs circle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105" y="1188720"/>
            <a:ext cx="3517207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Research questions</a:t>
            </a:r>
            <a:endParaRPr lang="en-US" sz="3400" dirty="0"/>
          </a:p>
        </p:txBody>
      </p:sp>
      <p:sp>
        <p:nvSpPr>
          <p:cNvPr id="3" name="RQ1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Q number"/>
          <p:cNvSpPr/>
          <p:nvPr/>
        </p:nvSpPr>
        <p:spPr>
          <a:xfrm>
            <a:off x="822960" y="1645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27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How accurately can deep learning map tank water from Sentinel-1 and Sentinel-2, even under cloud or water plants?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44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IoU and F1 against hand-labelled water masks</a:t>
            </a:r>
            <a:endParaRPr lang="en-US" sz="1150" dirty="0"/>
          </a:p>
        </p:txBody>
      </p:sp>
      <p:sp>
        <p:nvSpPr>
          <p:cNvPr id="8" name="RQ2"/>
          <p:cNvSpPr/>
          <p:nvPr/>
        </p:nvSpPr>
        <p:spPr>
          <a:xfrm>
            <a:off x="6199632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RQ number"/>
          <p:cNvSpPr/>
          <p:nvPr/>
        </p:nvSpPr>
        <p:spPr>
          <a:xfrm>
            <a:off x="6473952" y="1645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51192" y="1627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How accurate is SWOT on reservoirs and village tanks, and how many "suspect" readings can a learned screen keep?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51192" y="2944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in cm against gauges, on reservoirs the screen never saw</a:t>
            </a:r>
            <a:endParaRPr lang="en-US" sz="1150" dirty="0"/>
          </a:p>
        </p:txBody>
      </p:sp>
      <p:sp>
        <p:nvSpPr>
          <p:cNvPr id="13" name="RQ3"/>
          <p:cNvSpPr/>
          <p:nvPr/>
        </p:nvSpPr>
        <p:spPr>
          <a:xfrm>
            <a:off x="54864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RQ number"/>
          <p:cNvSpPr/>
          <p:nvPr/>
        </p:nvSpPr>
        <p:spPr>
          <a:xfrm>
            <a:off x="822960" y="3931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913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Can a model trained on about 100 gauged reservoirs turn SWOT height and water area into % full, for tanks it never saw?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5230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in % of capacity, on reservoirs it never saw</a:t>
            </a:r>
            <a:endParaRPr lang="en-US" sz="1150" dirty="0"/>
          </a:p>
        </p:txBody>
      </p:sp>
      <p:sp>
        <p:nvSpPr>
          <p:cNvPr id="18" name="RQ4"/>
          <p:cNvSpPr/>
          <p:nvPr/>
        </p:nvSpPr>
        <p:spPr>
          <a:xfrm>
            <a:off x="6199632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RQ number"/>
          <p:cNvSpPr/>
          <p:nvPr/>
        </p:nvSpPr>
        <p:spPr>
          <a:xfrm>
            <a:off x="6473952" y="3931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73952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51192" y="3913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Can a deep-learning model forecast each tank's storage 2–4 weeks ahead better than a "no change" forecast?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5230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as a % of capacity at 1, 2 and 4 weeks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Who does what: one model each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Three models in one chain: A finds where the water is, B how much there is, and C what comes next.</a:t>
            </a:r>
            <a:endParaRPr lang="en-US" sz="1400" dirty="0"/>
          </a:p>
        </p:txBody>
      </p:sp>
      <p:sp>
        <p:nvSpPr>
          <p:cNvPr id="4" name="MEMBER A"/>
          <p:cNvSpPr/>
          <p:nvPr/>
        </p:nvSpPr>
        <p:spPr>
          <a:xfrm>
            <a:off x="548640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5" name="icon FaBrain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water maps</a:t>
            </a:r>
            <a:endParaRPr lang="en-US" sz="1900" dirty="0"/>
          </a:p>
        </p:txBody>
      </p:sp>
      <p:sp>
        <p:nvSpPr>
          <p:cNvPr id="9" name="RQ1"/>
          <p:cNvSpPr/>
          <p:nvPr/>
        </p:nvSpPr>
        <p:spPr>
          <a:xfrm>
            <a:off x="822960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Labelled water masks of Sri Lankan tanks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water-plant class for covered tanks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Model: a Sentinel-1 and Sentinel-2 water map (U-Net)</a:t>
            </a:r>
            <a:endParaRPr lang="en-US" sz="1400" dirty="0"/>
          </a:p>
        </p:txBody>
      </p:sp>
      <p:sp>
        <p:nvSpPr>
          <p:cNvPr id="12" name="divider"/>
          <p:cNvSpPr/>
          <p:nvPr/>
        </p:nvSpPr>
        <p:spPr>
          <a:xfrm>
            <a:off x="822960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water area of every tank</a:t>
            </a:r>
            <a:endParaRPr lang="en-US" sz="1250" dirty="0"/>
          </a:p>
        </p:txBody>
      </p:sp>
      <p:sp>
        <p:nvSpPr>
          <p:cNvPr id="14" name="MEMBER B"/>
          <p:cNvSpPr/>
          <p:nvPr/>
        </p:nvSpPr>
        <p:spPr>
          <a:xfrm>
            <a:off x="4322978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5" name="icon FaSatellite"/>
          <p:cNvSpPr/>
          <p:nvPr/>
        </p:nvSpPr>
        <p:spPr>
          <a:xfrm>
            <a:off x="4597298" y="17830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458" y="19202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283098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B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597298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and storage</a:t>
            </a:r>
            <a:endParaRPr lang="en-US" sz="1900" dirty="0"/>
          </a:p>
        </p:txBody>
      </p:sp>
      <p:sp>
        <p:nvSpPr>
          <p:cNvPr id="19" name="RQ2"/>
          <p:cNvSpPr/>
          <p:nvPr/>
        </p:nvSpPr>
        <p:spPr>
          <a:xfrm>
            <a:off x="4597298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97298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RQ2</a:t>
            </a:r>
            <a:endParaRPr lang="en-US" sz="1200" dirty="0"/>
          </a:p>
        </p:txBody>
      </p:sp>
      <p:sp>
        <p:nvSpPr>
          <p:cNvPr id="21" name="RQ3"/>
          <p:cNvSpPr/>
          <p:nvPr/>
        </p:nvSpPr>
        <p:spPr>
          <a:xfrm>
            <a:off x="5347106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347106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RQ3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597298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SWOT heights, checked against gauges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trust screen that cleans every reading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Model: % full from height and area (gradient boosting)</a:t>
            </a:r>
            <a:endParaRPr lang="en-US" sz="1400" dirty="0"/>
          </a:p>
        </p:txBody>
      </p:sp>
      <p:sp>
        <p:nvSpPr>
          <p:cNvPr id="24" name="divider"/>
          <p:cNvSpPr/>
          <p:nvPr/>
        </p:nvSpPr>
        <p:spPr>
          <a:xfrm>
            <a:off x="4597298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597298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how full every tank is</a:t>
            </a:r>
            <a:endParaRPr lang="en-US" sz="1250" dirty="0"/>
          </a:p>
        </p:txBody>
      </p:sp>
      <p:sp>
        <p:nvSpPr>
          <p:cNvPr id="26" name="MEMBER C"/>
          <p:cNvSpPr/>
          <p:nvPr/>
        </p:nvSpPr>
        <p:spPr>
          <a:xfrm>
            <a:off x="8097317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27" name="icon FaChartLine"/>
          <p:cNvSpPr/>
          <p:nvPr/>
        </p:nvSpPr>
        <p:spPr>
          <a:xfrm>
            <a:off x="8371637" y="1783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797" y="192024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9057437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C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8371637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Forecast and system</a:t>
            </a:r>
            <a:endParaRPr lang="en-US" sz="1900" dirty="0"/>
          </a:p>
        </p:txBody>
      </p:sp>
      <p:sp>
        <p:nvSpPr>
          <p:cNvPr id="31" name="RQ4"/>
          <p:cNvSpPr/>
          <p:nvPr/>
        </p:nvSpPr>
        <p:spPr>
          <a:xfrm>
            <a:off x="8371637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371637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RQ4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8371637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Daily storage of 117 reservoirs, rain and evaporation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chain from picture to forecast, after every pass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Model: a 2–4 week storage forecast (LSTM)</a:t>
            </a:r>
            <a:endParaRPr lang="en-US" sz="1400" dirty="0"/>
          </a:p>
        </p:txBody>
      </p:sp>
      <p:sp>
        <p:nvSpPr>
          <p:cNvPr id="34" name="divider"/>
          <p:cNvSpPr/>
          <p:nvPr/>
        </p:nvSpPr>
        <p:spPr>
          <a:xfrm>
            <a:off x="8371637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371637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forecast and the dashboard</a:t>
            </a:r>
            <a:endParaRPr lang="en-US" sz="1250" dirty="0"/>
          </a:p>
        </p:txBody>
      </p:sp>
      <p:sp>
        <p:nvSpPr>
          <p:cNvPr id="36" name="shared work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37" name="icon FaPeopleGroup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All three: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field visits on SWOT pass dates, labelling water masks, the thesis and the research paper.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A: AI water maps</a:t>
            </a:r>
            <a:endParaRPr lang="en-US" sz="3400" dirty="0"/>
          </a:p>
        </p:txBody>
      </p:sp>
      <p:sp>
        <p:nvSpPr>
          <p:cNvPr id="3" name="RQ1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161288"/>
            <a:ext cx="102531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How accurately can deep learning map tank water from Sentinel-1 and Sentinel-2, even under cloud or water plants?</a:t>
            </a:r>
            <a:endParaRPr lang="en-US" sz="1400" dirty="0"/>
          </a:p>
        </p:txBody>
      </p:sp>
      <p:sp>
        <p:nvSpPr>
          <p:cNvPr id="6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Label water masks of our tanks, with a "water under plants" class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Score the maps: IoU and F1 against the labels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Area error against Kanhindawewa's drone survey, by sensor, season and plant cover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Compare with the simple rules and with SWOT's own area on the same days</a:t>
            </a:r>
            <a:endParaRPr lang="en-US" sz="1500" dirty="0"/>
          </a:p>
        </p:txBody>
      </p:sp>
      <p:sp>
        <p:nvSpPr>
          <p:cNvPr id="11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2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U-Net (EfficientNet-B0) trained on S1S2-Water, then fine-tuned on our tanks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Inputs: Sentinel-1 VV and VH, NISAR L-band radar, Sentinel-2, slope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Pipeline: find each picture day, download it, map the water, measure the area</a:t>
            </a:r>
            <a:endParaRPr lang="en-US" sz="1500" dirty="0"/>
          </a:p>
        </p:txBody>
      </p:sp>
      <p:sp>
        <p:nvSpPr>
          <p:cNvPr id="16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7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water area for every tank on every picture day, with its accuracy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B: SWOT and storage</a:t>
            </a:r>
            <a:endParaRPr lang="en-US" sz="3400" dirty="0"/>
          </a:p>
        </p:txBody>
      </p:sp>
      <p:sp>
        <p:nvSpPr>
          <p:cNvPr id="3" name="RQ2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RQ2</a:t>
            </a:r>
            <a:endParaRPr lang="en-US" sz="1200" dirty="0"/>
          </a:p>
        </p:txBody>
      </p:sp>
      <p:sp>
        <p:nvSpPr>
          <p:cNvPr id="5" name="RQ3"/>
          <p:cNvSpPr/>
          <p:nvPr/>
        </p:nvSpPr>
        <p:spPr>
          <a:xfrm>
            <a:off x="1298448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98448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RQ3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39696" y="1161288"/>
            <a:ext cx="95033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How accurate is SWOT, and can a model trained on about 100 reservoirs turn SWOT height and water area into % full for new tanks?</a:t>
            </a:r>
            <a:endParaRPr lang="en-US" sz="1400" dirty="0"/>
          </a:p>
        </p:txBody>
      </p:sp>
      <p:sp>
        <p:nvSpPr>
          <p:cNvPr id="8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SWOT minus gauge on every pass: the steady gap and the spread in cm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Trust screen: how many "suspect" readings it keeps, and their error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Training pairs: daily storage with SWOT height and water area, at about 100 reservoirs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Storage error in % of capacity on reservoirs the model never saw, against one formula for all tanks</a:t>
            </a:r>
            <a:endParaRPr lang="en-US" sz="1500" dirty="0"/>
          </a:p>
        </p:txBody>
      </p:sp>
      <p:sp>
        <p:nvSpPr>
          <p:cNvPr id="13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4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Hydrocron pipeline: each tank's lake ID, every pass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Trust screen: gradient boosting on SWOT's quality fields, track distance, lake size and season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Storage model: gradient boosting in which more height or area never means less water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Inputs every tank has: height, area, outline, catchment and slope (Copernicus DEM)</a:t>
            </a:r>
            <a:endParaRPr lang="en-US" sz="1500" dirty="0"/>
          </a:p>
        </p:txBody>
      </p:sp>
      <p:sp>
        <p:nvSpPr>
          <p:cNvPr id="18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9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SWOT accuracy report, a screen that cleans every reading, and a model that says how full any tank 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C: Forecast and system</a:t>
            </a:r>
            <a:endParaRPr lang="en-US" sz="3400" dirty="0"/>
          </a:p>
        </p:txBody>
      </p:sp>
      <p:sp>
        <p:nvSpPr>
          <p:cNvPr id="3" name="RQ4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161288"/>
            <a:ext cx="102531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Can a deep-learning model forecast each tank's storage 2–4 weeks ahead, from recent storage, rain and evaporation, better than "no change"?</a:t>
            </a:r>
            <a:endParaRPr lang="en-US" sz="1400" dirty="0"/>
          </a:p>
        </p:txBody>
      </p:sp>
      <p:sp>
        <p:nvSpPr>
          <p:cNvPr id="6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Seasonal average for each tank, from past years only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Forecast error at 1, 2 and 4 weeks, against "no change" and the seasonal average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Tested on years and reservoirs the model never saw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whole chain, picture to forecast, at the village tanks and on Kanhindawewa's drone survey</a:t>
            </a:r>
            <a:endParaRPr lang="en-US" sz="1500" dirty="0"/>
          </a:p>
        </p:txBody>
      </p:sp>
      <p:sp>
        <p:nvSpPr>
          <p:cNvPr id="11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2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Forecast model: an LSTM with a gradient-boosting baseline, trained on 117 reservoirs' daily storage (2020–2026), rain and evaporation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chain after every pass: A's water map and SWOT's height go into B's model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Dashboard: storage, safe limits and the forecast for each tank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Automatic updates with GitHub Actions</a:t>
            </a:r>
            <a:endParaRPr lang="en-US" sz="1500" dirty="0"/>
          </a:p>
        </p:txBody>
      </p:sp>
      <p:sp>
        <p:nvSpPr>
          <p:cNvPr id="16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7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 2–4 week forecast for every tank, the running chain and the dashboard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What we will deliver, and when</a:t>
            </a:r>
            <a:endParaRPr lang="en-US" sz="3400" dirty="0"/>
          </a:p>
        </p:txBody>
      </p:sp>
      <p:sp>
        <p:nvSpPr>
          <p:cNvPr id="3" name="icon FaBrain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4356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labelled dataset and an AI water map that works under cloud and water plants</a:t>
            </a:r>
            <a:endParaRPr lang="en-US" sz="1600" dirty="0"/>
          </a:p>
        </p:txBody>
      </p:sp>
      <p:sp>
        <p:nvSpPr>
          <p:cNvPr id="6" name="icon FaSatellite"/>
          <p:cNvSpPr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688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3500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SWOT trust screen, and a model that turns height and area into % full</a:t>
            </a:r>
            <a:endParaRPr lang="en-US" sz="1600" dirty="0"/>
          </a:p>
        </p:txBody>
      </p:sp>
      <p:sp>
        <p:nvSpPr>
          <p:cNvPr id="9" name="icon FaChartLin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2644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Storage every 5–12 days for all 13 tanks</a:t>
            </a:r>
            <a:endParaRPr lang="en-US" sz="1600" dirty="0"/>
          </a:p>
        </p:txBody>
      </p:sp>
      <p:sp>
        <p:nvSpPr>
          <p:cNvPr id="12" name="icon FaGaugeHigh"/>
          <p:cNvSpPr/>
          <p:nvPr/>
        </p:nvSpPr>
        <p:spPr>
          <a:xfrm>
            <a:off x="548640" y="41605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97680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1788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2–4 week storage forecast, shown on a dashboard</a:t>
            </a:r>
            <a:endParaRPr lang="en-US" sz="1600" dirty="0"/>
          </a:p>
        </p:txBody>
      </p:sp>
      <p:sp>
        <p:nvSpPr>
          <p:cNvPr id="15" name="icon FaFileLines"/>
          <p:cNvSpPr/>
          <p:nvPr/>
        </p:nvSpPr>
        <p:spPr>
          <a:xfrm>
            <a:off x="548640" y="5074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212080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25880" y="50932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research paper, for example for UoM's ICITR conference</a:t>
            </a:r>
            <a:endParaRPr lang="en-US" sz="1600" dirty="0"/>
          </a:p>
        </p:txBody>
      </p:sp>
      <p:sp>
        <p:nvSpPr>
          <p:cNvPr id="18" name="timeline"/>
          <p:cNvSpPr/>
          <p:nvPr/>
        </p:nvSpPr>
        <p:spPr>
          <a:xfrm>
            <a:off x="6537960" y="1280160"/>
            <a:ext cx="5102352" cy="493776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imeline line"/>
          <p:cNvSpPr/>
          <p:nvPr/>
        </p:nvSpPr>
        <p:spPr>
          <a:xfrm>
            <a:off x="7013448" y="1691640"/>
            <a:ext cx="0" cy="3931920"/>
          </a:xfrm>
          <a:prstGeom prst="line">
            <a:avLst/>
          </a:prstGeom>
          <a:noFill/>
          <a:ln w="25400">
            <a:solidFill>
              <a:srgbClr val="D5DDE3"/>
            </a:solidFill>
            <a:prstDash val="solid"/>
          </a:ln>
        </p:spPr>
      </p:sp>
      <p:sp>
        <p:nvSpPr>
          <p:cNvPr id="20" name="milestone Nov 2026"/>
          <p:cNvSpPr/>
          <p:nvPr/>
        </p:nvSpPr>
        <p:spPr>
          <a:xfrm>
            <a:off x="6903720" y="1645920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315200" y="1572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Nov 2026</a:t>
            </a:r>
            <a:endParaRPr lang="en-US" sz="1450" dirty="0"/>
          </a:p>
        </p:txBody>
      </p:sp>
      <p:sp>
        <p:nvSpPr>
          <p:cNvPr id="22" name="Text 15"/>
          <p:cNvSpPr txBox="1"/>
          <p:nvPr/>
        </p:nvSpPr>
        <p:spPr>
          <a:xfrm>
            <a:off x="7315200" y="19019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Proposal, ethics and data requests</a:t>
            </a:r>
            <a:endParaRPr lang="en-US" sz="1250" dirty="0"/>
          </a:p>
        </p:txBody>
      </p:sp>
      <p:sp>
        <p:nvSpPr>
          <p:cNvPr id="23" name="milestone 15 Dec 2026"/>
          <p:cNvSpPr/>
          <p:nvPr/>
        </p:nvSpPr>
        <p:spPr>
          <a:xfrm>
            <a:off x="6903720" y="2578608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7315200" y="2505456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 Dec 2026</a:t>
            </a:r>
            <a:endParaRPr lang="en-US" sz="1450" dirty="0"/>
          </a:p>
        </p:txBody>
      </p:sp>
      <p:sp>
        <p:nvSpPr>
          <p:cNvPr id="25" name="Text 18"/>
          <p:cNvSpPr txBox="1"/>
          <p:nvPr/>
        </p:nvSpPr>
        <p:spPr>
          <a:xfrm>
            <a:off x="7315200" y="28346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Study area confirmed after the name check</a:t>
            </a:r>
            <a:endParaRPr lang="en-US" sz="1250" dirty="0"/>
          </a:p>
        </p:txBody>
      </p:sp>
      <p:sp>
        <p:nvSpPr>
          <p:cNvPr id="26" name="milestone Dec 2026 – Apr 2027"/>
          <p:cNvSpPr/>
          <p:nvPr/>
        </p:nvSpPr>
        <p:spPr>
          <a:xfrm>
            <a:off x="6903720" y="3511296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315200" y="343814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 2026 – Apr 2027</a:t>
            </a:r>
            <a:endParaRPr lang="en-US" sz="1450" dirty="0"/>
          </a:p>
        </p:txBody>
      </p:sp>
      <p:sp>
        <p:nvSpPr>
          <p:cNvPr id="28" name="Text 21"/>
          <p:cNvSpPr txBox="1"/>
          <p:nvPr/>
        </p:nvSpPr>
        <p:spPr>
          <a:xfrm>
            <a:off x="7315200" y="37673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Labelled data, gauge readings, and the three models: water map, storage model, forecast</a:t>
            </a:r>
            <a:endParaRPr lang="en-US" sz="1250" dirty="0"/>
          </a:p>
        </p:txBody>
      </p:sp>
      <p:sp>
        <p:nvSpPr>
          <p:cNvPr id="29" name="milestone Mar – May 2027"/>
          <p:cNvSpPr/>
          <p:nvPr/>
        </p:nvSpPr>
        <p:spPr>
          <a:xfrm>
            <a:off x="6903720" y="44439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315200" y="43708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Mar – May 2027</a:t>
            </a:r>
            <a:endParaRPr lang="en-US" sz="1450" dirty="0"/>
          </a:p>
        </p:txBody>
      </p:sp>
      <p:sp>
        <p:nvSpPr>
          <p:cNvPr id="31" name="Text 24"/>
          <p:cNvSpPr txBox="1"/>
          <p:nvPr/>
        </p:nvSpPr>
        <p:spPr>
          <a:xfrm>
            <a:off x="7315200" y="470001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Storage estimates, validation and dashboard</a:t>
            </a:r>
            <a:endParaRPr lang="en-US" sz="1250" dirty="0"/>
          </a:p>
        </p:txBody>
      </p:sp>
      <p:sp>
        <p:nvSpPr>
          <p:cNvPr id="32" name="milestone 30 Jun 2027"/>
          <p:cNvSpPr/>
          <p:nvPr/>
        </p:nvSpPr>
        <p:spPr>
          <a:xfrm>
            <a:off x="6903720" y="53766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7315200" y="53035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 Jun 2027</a:t>
            </a:r>
            <a:endParaRPr lang="en-US" sz="1450" dirty="0"/>
          </a:p>
        </p:txBody>
      </p:sp>
      <p:sp>
        <p:nvSpPr>
          <p:cNvPr id="34" name="Text 27"/>
          <p:cNvSpPr txBox="1"/>
          <p:nvPr/>
        </p:nvSpPr>
        <p:spPr>
          <a:xfrm>
            <a:off x="7315200" y="563270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Thesis, paper and final submission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Datasets and links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Every dataset is free and public. Click a name to open it.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Water height (SWOT)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7568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SWOT Lake and River Explorer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click any tank to see its readings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8658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Earthdata: SWOT lake product, version D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files we use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Hydrocron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free service that gives each lake's heights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Water area (pictures)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53872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Copernicus Browser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Sentinel-1 and -2 pictures of our tanks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4962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Planetary Computer: Sentinel-1 radar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terrain-corrected radar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16052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ASF: NISAR radar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L-band radar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7141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JAXA ALOS-2 radar on AWS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L-band radar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782312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S1S2-Water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AI training data, 65 areas in 29 countries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09320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Water Watch archive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reservoir water areas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550408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Ground shape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93445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Copernicus DEM (GLO-30)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30 m elevation map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278728" y="169164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Ground truth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15888" y="207568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water level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daily sheet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15888" y="238658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status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web page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15888" y="269748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map layer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full supply levels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15888" y="300837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Kanhindawewa drone survey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area and capacity every 1 ft (PDF)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15888" y="3319272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Mahaweli Authority: reservoir status reports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daily levels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278728" y="3776472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Weather (for the forecast)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15888" y="416052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GPM IMERG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daily rainfall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15888" y="447141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CHIRPS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monthly rainfall checks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15888" y="4782312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ERA5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weather, for evaporation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278728" y="5239512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Our work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15888" y="562356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website: swot.mehara.work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every tab, with the team plan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Academic\07\IS4990 Comprehensive Group Project\temp\presentation\img\cards\clos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Thank you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704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6DE"/>
                </a:solidFill>
              </a:rPr>
              <a:t>Questions and feedback are welcome.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sources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498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SWOT: NASA/JPL and CNES, Lake Single-Pass product version D (PO.DAAC, Hydrocron)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Sentinel-1 and Sentinel-2: ESA Copernicus (Earth Search and Microsoft Planetary Computer)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Reservoir levels and outlines: Irrigation Department of Sri Lanka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Tank outlines © OpenStreetMap contributors; Sri Lanka boundary: geoBoundaries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SWOT illustration: NASA/JPL-Caltech</a:t>
            </a:r>
            <a:endParaRPr lang="en-US" sz="1350" dirty="0"/>
          </a:p>
        </p:txBody>
      </p:sp>
      <p:sp>
        <p:nvSpPr>
          <p:cNvPr id="7" name="QR frame"/>
          <p:cNvSpPr/>
          <p:nvPr/>
        </p:nvSpPr>
        <p:spPr>
          <a:xfrm>
            <a:off x="9098280" y="2103120"/>
            <a:ext cx="2542032" cy="2542032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1" descr="QR code to the SWOT Lake and River Explorer websi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2240280"/>
            <a:ext cx="2267712" cy="22677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98280" y="48006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6DE"/>
                </a:solidFill>
              </a:rPr>
              <a:t>See SWOT readings for any lake: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u="sng" dirty="0">
                <a:solidFill>
                  <a:schemeClr val="accent5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SWOT Lake and River Explorer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OT Tank Tracker">
  <a:themeElements>
    <a:clrScheme name="SWOT Tank Tracker">
      <a:dk1>
        <a:srgbClr val="142430"/>
      </a:dk1>
      <a:lt1>
        <a:srgbClr val="FFFFFF"/>
      </a:lt1>
      <a:dk2>
        <a:srgbClr val="0B2230"/>
      </a:dk2>
      <a:lt2>
        <a:srgbClr val="EEF3F6"/>
      </a:lt2>
      <a:accent1>
        <a:srgbClr val="2A78D6"/>
      </a:accent1>
      <a:accent2>
        <a:srgbClr val="EB6834"/>
      </a:accent2>
      <a:accent3>
        <a:srgbClr val="1BAF7A"/>
      </a:accent3>
      <a:accent4>
        <a:srgbClr val="FAB219"/>
      </a:accent4>
      <a:accent5>
        <a:srgbClr val="8FC1F2"/>
      </a:accent5>
      <a:accent6>
        <a:srgbClr val="56656F"/>
      </a:accent6>
      <a:hlink>
        <a:srgbClr val="2A78D6"/>
      </a:hlink>
      <a:folHlink>
        <a:srgbClr val="1C5CAB"/>
      </a:folHlink>
    </a:clrScheme>
    <a:fontScheme name="SWOT Tank Tracker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University of Moratuwa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SWOT Tank Water Tracker for Sri Lanka</dc:title>
  <dc:subject>IS4990 project proposal talk</dc:subject>
  <dc:creator>Group 6, JARVIS</dc:creator>
  <cp:lastModifiedBy>Group 6, JARVIS</cp:lastModifiedBy>
  <cp:revision>1</cp:revision>
  <dcterms:created xsi:type="dcterms:W3CDTF">2026-10-29T18:58:13Z</dcterms:created>
  <dcterms:modified xsi:type="dcterms:W3CDTF">2026-10-29T18:58:13Z</dcterms:modified>
</cp:coreProperties>
</file>